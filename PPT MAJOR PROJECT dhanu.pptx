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1" r:id="rId3"/>
    <p:sldId id="256" r:id="rId4"/>
    <p:sldId id="301" r:id="rId5"/>
    <p:sldId id="276" r:id="rId6"/>
    <p:sldId id="259" r:id="rId7"/>
    <p:sldId id="300" r:id="rId8"/>
    <p:sldId id="278" r:id="rId9"/>
    <p:sldId id="279" r:id="rId10"/>
    <p:sldId id="280" r:id="rId11"/>
    <p:sldId id="281" r:id="rId12"/>
    <p:sldId id="282" r:id="rId13"/>
    <p:sldId id="296" r:id="rId14"/>
    <p:sldId id="297" r:id="rId15"/>
    <p:sldId id="298" r:id="rId16"/>
    <p:sldId id="302" r:id="rId17"/>
    <p:sldId id="303" r:id="rId18"/>
    <p:sldId id="304" r:id="rId19"/>
    <p:sldId id="294" r:id="rId20"/>
    <p:sldId id="265" r:id="rId21"/>
    <p:sldId id="266" r:id="rId22"/>
    <p:sldId id="275" r:id="rId23"/>
    <p:sldId id="269" r:id="rId24"/>
    <p:sldId id="305" r:id="rId25"/>
    <p:sldId id="295" r:id="rId26"/>
    <p:sldId id="271"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428" autoAdjust="0"/>
    <p:restoredTop sz="94660"/>
  </p:normalViewPr>
  <p:slideViewPr>
    <p:cSldViewPr snapToGrid="0">
      <p:cViewPr varScale="1">
        <p:scale>
          <a:sx n="82" d="100"/>
          <a:sy n="82" d="100"/>
        </p:scale>
        <p:origin x="4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E2F9BC9D-0504-449F-B615-E3F05997E7C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2F9BC9D-0504-449F-B615-E3F05997E7C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E2F9BC9D-0504-449F-B615-E3F05997E7C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E2F9BC9D-0504-449F-B615-E3F05997E7C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E2F9BC9D-0504-449F-B615-E3F05997E7C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E2F9BC9D-0504-449F-B615-E3F05997E7C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F9BC9D-0504-449F-B615-E3F05997E7C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F9BC9D-0504-449F-B615-E3F05997E7C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E2F9BC9D-0504-449F-B615-E3F05997E7C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2F9BC9D-0504-449F-B615-E3F05997E7C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E2F9BC9D-0504-449F-B615-E3F05997E7C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6A7B85C-0679-44FE-A175-D6F659E9542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2F9BC9D-0504-449F-B615-E3F05997E7C6}"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6A7B85C-0679-44FE-A175-D6F659E9542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jpe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8.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4.png"/><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0800000" flipV="1">
            <a:off x="1901448" y="0"/>
            <a:ext cx="8389103" cy="6858000"/>
          </a:xfrm>
        </p:spPr>
        <p:txBody>
          <a:bodyPr anchor="ctr" anchorCtr="0">
            <a:noAutofit/>
          </a:bodyPr>
          <a:lstStyle/>
          <a:p>
            <a:pPr algn="ct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A</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SEMINAR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ON</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VIRTUAL FENCING</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BACHELORE OF TECHNOLOGY</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IN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ELECTRONICS AND COMMUNICATION ENGINEERING </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Under the extreme guidance of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Mr. R. DURGA GOPAL B.Tech., M. Tech., (</a:t>
            </a:r>
            <a:r>
              <a:rPr lang="en-US" sz="1800" b="1" dirty="0" err="1">
                <a:latin typeface="Times New Roman" panose="02020603050405020304" pitchFamily="18" charset="0"/>
                <a:cs typeface="Times New Roman" panose="02020603050405020304" pitchFamily="18" charset="0"/>
              </a:rPr>
              <a:t>Ph.D</a:t>
            </a:r>
            <a:r>
              <a:rPr lang="en-US" sz="1800" b="1" dirty="0">
                <a:latin typeface="Times New Roman" panose="02020603050405020304" pitchFamily="18" charset="0"/>
                <a:cs typeface="Times New Roman" panose="02020603050405020304" pitchFamily="18" charset="0"/>
              </a:rPr>
              <a:t>)</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Presented by</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   E.DHANANJAI 		(23J25A0405)
   K.AKSHAY GUPTA	(22J21A0415)  
   H.NIKITHA 		(22J21A0411)
   RAGHAVENDRA	(23J25A0412)</a:t>
            </a: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JOGINPALLY B.R ENGINEERING COLLEGE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DEPARTMENT OF ELECTRONICS AND COMMUNICATION ENGINEERING </a:t>
            </a:r>
            <a:br>
              <a:rPr lang="en-US" sz="1800" b="1" dirty="0">
                <a:latin typeface="Times New Roman" panose="02020603050405020304" pitchFamily="18" charset="0"/>
                <a:cs typeface="Times New Roman" panose="02020603050405020304" pitchFamily="18" charset="0"/>
              </a:rPr>
            </a:br>
            <a:r>
              <a:rPr lang="en-US" sz="1800" b="1" dirty="0">
                <a:latin typeface="Times New Roman" panose="02020603050405020304" pitchFamily="18" charset="0"/>
                <a:cs typeface="Times New Roman" panose="02020603050405020304" pitchFamily="18" charset="0"/>
              </a:rPr>
              <a:t>2025-26</a:t>
            </a:r>
            <a:br>
              <a:rPr lang="en-US" sz="1800" b="1" dirty="0">
                <a:latin typeface="Times New Roman" panose="02020603050405020304" pitchFamily="18" charset="0"/>
                <a:cs typeface="Times New Roman" panose="02020603050405020304" pitchFamily="18" charset="0"/>
              </a:rPr>
            </a:br>
            <a:endParaRPr lang="en-US" sz="1800" b="1"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rcRect l="8818" t="21080" r="22022" b="12178"/>
          <a:stretch>
            <a:fillRect/>
          </a:stretch>
        </p:blipFill>
        <p:spPr>
          <a:xfrm>
            <a:off x="4754880" y="4614027"/>
            <a:ext cx="1960880" cy="90285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514193" y="824946"/>
            <a:ext cx="5833323" cy="2050301"/>
          </a:xfrm>
          <a:prstGeom prst="rect">
            <a:avLst/>
          </a:prstGeom>
          <a:noFill/>
        </p:spPr>
        <p:txBody>
          <a:bodyPr wrap="square" rtlCol="0">
            <a:spAutoFit/>
          </a:bodyPr>
          <a:lstStyle/>
          <a:p>
            <a:pPr algn="l"/>
            <a:endParaRPr lang="en-US" dirty="0"/>
          </a:p>
        </p:txBody>
      </p:sp>
      <p:sp>
        <p:nvSpPr>
          <p:cNvPr id="2" name="TextBox 1"/>
          <p:cNvSpPr txBox="1"/>
          <p:nvPr/>
        </p:nvSpPr>
        <p:spPr>
          <a:xfrm>
            <a:off x="593802" y="287768"/>
            <a:ext cx="8393714" cy="6062345"/>
          </a:xfrm>
          <a:prstGeom prst="rect">
            <a:avLst/>
          </a:prstGeom>
          <a:noFill/>
        </p:spPr>
        <p:txBody>
          <a:bodyPr wrap="square" rtlCol="0">
            <a:spAutoFit/>
          </a:bodyPr>
          <a:lstStyle/>
          <a:p>
            <a:pPr marL="457200" indent="-457200" algn="l">
              <a:lnSpc>
                <a:spcPct val="150000"/>
              </a:lnSpc>
              <a:buFont typeface="Wingdings" panose="05000000000000000000" charset="0"/>
              <a:buChar char="Ø"/>
            </a:pPr>
            <a:r>
              <a:rPr lang="en-US" sz="3000" b="1" dirty="0">
                <a:solidFill>
                  <a:schemeClr val="accent1">
                    <a:lumMod val="75000"/>
                  </a:schemeClr>
                </a:solidFill>
                <a:latin typeface="Times New Roman" panose="02020603050405020304" pitchFamily="18" charset="0"/>
                <a:cs typeface="Times New Roman" panose="02020603050405020304" pitchFamily="18" charset="0"/>
              </a:rPr>
              <a:t>CONTENT:</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INTRODUCTION</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BLOCK DIAGRAM</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COMPONENTS</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SCHEMATIC CIRCUIT DIAGRAM</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WORKING PRINCIPLE</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RESULT</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ADVANTAGES </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LIMITATIONS </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APPLICATIONS </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CONCLUSION</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FUTURE SCOPE</a:t>
            </a:r>
            <a:endParaRPr lang="en-US" sz="2400" b="1" dirty="0">
              <a:latin typeface="Times New Roman" panose="02020603050405020304" pitchFamily="18" charset="0"/>
              <a:cs typeface="Times New Roman" panose="02020603050405020304" pitchFamily="18" charset="0"/>
            </a:endParaRPr>
          </a:p>
          <a:p>
            <a:pPr marL="285750" indent="-285750" algn="l">
              <a:spcAft>
                <a:spcPts val="600"/>
              </a:spcAft>
              <a:buFont typeface="Arial" panose="020B0604020202020204" pitchFamily="34" charset="0"/>
              <a:buChar char="•"/>
            </a:pPr>
            <a:r>
              <a:rPr lang="en-US" sz="2400" b="1" dirty="0">
                <a:latin typeface="Times New Roman" panose="02020603050405020304" pitchFamily="18" charset="0"/>
                <a:cs typeface="Times New Roman" panose="02020603050405020304" pitchFamily="18" charset="0"/>
              </a:rPr>
              <a:t>REFERENCE</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 y="289560"/>
            <a:ext cx="11308080" cy="6090920"/>
          </a:xfrm>
        </p:spPr>
        <p:txBody>
          <a:bodyPr>
            <a:normAutofit fontScale="92500" lnSpcReduction="10000"/>
          </a:bodyPr>
          <a:lstStyle/>
          <a:p>
            <a:pPr>
              <a:lnSpc>
                <a:spcPct val="150000"/>
              </a:lnSpc>
              <a:buFont typeface="Wingdings" panose="05000000000000000000" pitchFamily="2" charset="2"/>
              <a:buChar char="Ø"/>
            </a:pPr>
            <a:r>
              <a:rPr lang="en-US" sz="3000" b="1" dirty="0">
                <a:solidFill>
                  <a:schemeClr val="accent1">
                    <a:lumMod val="75000"/>
                  </a:schemeClr>
                </a:solidFill>
                <a:latin typeface="Times New Roman" panose="02020603050405020304" pitchFamily="18" charset="0"/>
                <a:cs typeface="Times New Roman" panose="02020603050405020304" pitchFamily="18" charset="0"/>
              </a:rPr>
              <a:t>INTRODUCTION:</a:t>
            </a:r>
            <a:endParaRPr lang="en-US" sz="3000"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gn="just">
              <a:lnSpc>
                <a:spcPct val="150000"/>
              </a:lnSpc>
            </a:pPr>
            <a:r>
              <a:rPr lang="en-US" sz="2200" b="1" dirty="0">
                <a:solidFill>
                  <a:schemeClr val="accent1">
                    <a:lumMod val="75000"/>
                  </a:schemeClr>
                </a:solidFill>
                <a:latin typeface="Times New Roman" panose="02020603050405020304" pitchFamily="18" charset="0"/>
                <a:cs typeface="Times New Roman" panose="02020603050405020304" pitchFamily="18" charset="0"/>
              </a:rPr>
              <a:t>AIM:- </a:t>
            </a:r>
            <a:r>
              <a:rPr lang="en-US" sz="2200" dirty="0">
                <a:latin typeface="Times New Roman" panose="02020603050405020304" pitchFamily="18" charset="0"/>
                <a:cs typeface="Times New Roman" panose="02020603050405020304" pitchFamily="18" charset="0"/>
              </a:rPr>
              <a:t>The aim of this project is to design and implement a Virtual Fencing System for grazing animals using GPS technology, which helps in monitoring and controlling the movement of animals without the need for a physical fence. </a:t>
            </a:r>
            <a:endParaRPr lang="en-US" sz="2200" dirty="0">
              <a:latin typeface="Times New Roman" panose="02020603050405020304" pitchFamily="18" charset="0"/>
              <a:cs typeface="Times New Roman" panose="02020603050405020304" pitchFamily="18" charset="0"/>
            </a:endParaRPr>
          </a:p>
          <a:p>
            <a:pPr marL="285750" indent="-285750" algn="just">
              <a:lnSpc>
                <a:spcPct val="150000"/>
              </a:lnSpc>
            </a:pPr>
            <a:r>
              <a:rPr lang="en-US" sz="2200" b="1" dirty="0">
                <a:solidFill>
                  <a:schemeClr val="accent1">
                    <a:lumMod val="75000"/>
                  </a:schemeClr>
                </a:solidFill>
                <a:latin typeface="Times New Roman" panose="02020603050405020304" pitchFamily="18" charset="0"/>
                <a:cs typeface="Times New Roman" panose="02020603050405020304" pitchFamily="18" charset="0"/>
              </a:rPr>
              <a:t>PREVIOUS SYSTEM:- </a:t>
            </a:r>
            <a:r>
              <a:rPr lang="en-US" sz="2200" dirty="0">
                <a:latin typeface="Times New Roman" panose="02020603050405020304" pitchFamily="18" charset="0"/>
                <a:cs typeface="Times New Roman" panose="02020603050405020304" pitchFamily="18" charset="0"/>
              </a:rPr>
              <a:t>Traditional fencing methods use physical barriers like wooden, barbed wire, or electric fences to restrict the movement of animals. These methods are costly, require regular maintenance, and often harm the environment and animals. Some electronic fencing systems exist, but they are limited in terms of flexibility, monitoring, and real-time control. </a:t>
            </a:r>
            <a:endParaRPr lang="en-US" sz="2200" dirty="0">
              <a:latin typeface="Times New Roman" panose="02020603050405020304" pitchFamily="18" charset="0"/>
              <a:cs typeface="Times New Roman" panose="02020603050405020304" pitchFamily="18" charset="0"/>
            </a:endParaRPr>
          </a:p>
          <a:p>
            <a:pPr marL="285750" indent="-285750">
              <a:lnSpc>
                <a:spcPct val="150000"/>
              </a:lnSpc>
            </a:pPr>
            <a:r>
              <a:rPr lang="en-US" sz="2200" b="1" dirty="0">
                <a:solidFill>
                  <a:schemeClr val="accent1">
                    <a:lumMod val="75000"/>
                  </a:schemeClr>
                </a:solidFill>
                <a:latin typeface="Times New Roman" panose="02020603050405020304" pitchFamily="18" charset="0"/>
                <a:cs typeface="Times New Roman" panose="02020603050405020304" pitchFamily="18" charset="0"/>
              </a:rPr>
              <a:t>PROPOSED SYSTEM :-  </a:t>
            </a:r>
            <a:r>
              <a:rPr lang="en-US" sz="2200" dirty="0"/>
              <a:t>The project introduces a Virtual Fence system where each animal wears a GPS device that triggers a warning sound—and if needed, a mild shock—when it nears a set boundary. Farmers can adjust boundaries and monitor animals in real time via a mobile app, reducing costs and eliminating the need for physical fences.</a:t>
            </a:r>
            <a:endParaRPr lang="en-US" sz="2200" b="1" dirty="0">
              <a:solidFill>
                <a:schemeClr val="accent1">
                  <a:lumMod val="75000"/>
                </a:schemeClr>
              </a:solidFill>
              <a:latin typeface="Times New Roman" panose="02020603050405020304" pitchFamily="18" charset="0"/>
              <a:cs typeface="Times New Roman" panose="02020603050405020304" pitchFamily="18" charset="0"/>
            </a:endParaRPr>
          </a:p>
          <a:p>
            <a:pPr marL="0" indent="0">
              <a:lnSpc>
                <a:spcPct val="150000"/>
              </a:lnSpc>
              <a:buNone/>
            </a:pPr>
            <a:endParaRPr lang="en-US" b="1" dirty="0">
              <a:solidFill>
                <a:schemeClr val="accent1">
                  <a:lumMod val="75000"/>
                </a:schemeClr>
              </a:solidFill>
              <a:latin typeface="Times New Roman" panose="02020603050405020304" pitchFamily="18" charset="0"/>
              <a:cs typeface="Times New Roman" panose="02020603050405020304" pitchFamily="18" charset="0"/>
            </a:endParaRPr>
          </a:p>
          <a:p>
            <a:pPr marL="285750" indent="-285750">
              <a:lnSpc>
                <a:spcPct val="150000"/>
              </a:lnSpc>
            </a:pPr>
            <a:endParaRPr lang="en-US" dirty="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rot="10800000" flipV="1">
            <a:off x="702839" y="257231"/>
            <a:ext cx="3482008" cy="460375"/>
          </a:xfrm>
          <a:prstGeom prst="rect">
            <a:avLst/>
          </a:prstGeom>
          <a:noFill/>
        </p:spPr>
        <p:txBody>
          <a:bodyPr wrap="square" rtlCol="0">
            <a:spAutoFit/>
          </a:bodyPr>
          <a:lstStyle/>
          <a:p>
            <a:pPr marL="342900" indent="-342900" algn="l">
              <a:buFont typeface="Wingdings" panose="05000000000000000000" charset="0"/>
              <a:buChar char="Ø"/>
            </a:pPr>
            <a:r>
              <a:rPr lang="en-US" sz="2400" b="1" dirty="0">
                <a:solidFill>
                  <a:schemeClr val="accent1"/>
                </a:solidFill>
                <a:latin typeface="Times New Roman" panose="02020603050405020304" pitchFamily="18" charset="0"/>
                <a:cs typeface="Times New Roman" panose="02020603050405020304" pitchFamily="18" charset="0"/>
              </a:rPr>
              <a:t>BLOCK DIAGRAM:-</a:t>
            </a:r>
            <a:endParaRPr lang="en-US" sz="2400" b="1" dirty="0">
              <a:solidFill>
                <a:schemeClr val="accent1"/>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rcRect t="10218" b="18501"/>
          <a:stretch>
            <a:fillRect/>
          </a:stretch>
        </p:blipFill>
        <p:spPr>
          <a:xfrm>
            <a:off x="702839" y="975360"/>
            <a:ext cx="10779718" cy="51206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42481" y="182880"/>
            <a:ext cx="10405997" cy="6248399"/>
          </a:xfrm>
        </p:spPr>
        <p:txBody>
          <a:bodyPr>
            <a:normAutofit fontScale="92500" lnSpcReduction="20000"/>
          </a:bodyPr>
          <a:lstStyle/>
          <a:p>
            <a:pPr>
              <a:lnSpc>
                <a:spcPct val="160000"/>
              </a:lnSpc>
              <a:buFont typeface="Wingdings" panose="05000000000000000000" charset="0"/>
              <a:buChar char="Ø"/>
            </a:pPr>
            <a:r>
              <a:rPr lang="en-US" sz="3600" b="1" dirty="0">
                <a:solidFill>
                  <a:schemeClr val="accent1">
                    <a:lumMod val="75000"/>
                  </a:schemeClr>
                </a:solidFill>
                <a:latin typeface="Times New Roman" panose="02020603050405020304" pitchFamily="18" charset="0"/>
                <a:cs typeface="Times New Roman" panose="02020603050405020304" pitchFamily="18" charset="0"/>
              </a:rPr>
              <a:t>COMPONENTS:</a:t>
            </a:r>
            <a:endParaRPr lang="en-US" sz="3600" b="1" dirty="0">
              <a:solidFill>
                <a:schemeClr val="accent1">
                  <a:lumMod val="75000"/>
                </a:schemeClr>
              </a:solidFill>
              <a:latin typeface="Times New Roman" panose="02020603050405020304" pitchFamily="18" charset="0"/>
              <a:cs typeface="Times New Roman" panose="02020603050405020304" pitchFamily="18" charset="0"/>
            </a:endParaRPr>
          </a:p>
          <a:p>
            <a:pPr>
              <a:lnSpc>
                <a:spcPct val="160000"/>
              </a:lnSpc>
            </a:pPr>
            <a:r>
              <a:rPr lang="en-IN" sz="2400" dirty="0">
                <a:latin typeface="Times New Roman" panose="02020603050405020304" pitchFamily="18" charset="0"/>
                <a:cs typeface="Times New Roman" panose="02020603050405020304" pitchFamily="18" charset="0"/>
              </a:rPr>
              <a:t>ESP32 Microcontroller </a:t>
            </a:r>
            <a:endParaRPr lang="en-IN" sz="2400" dirty="0">
              <a:latin typeface="Times New Roman" panose="02020603050405020304" pitchFamily="18" charset="0"/>
              <a:cs typeface="Times New Roman" panose="02020603050405020304" pitchFamily="18" charset="0"/>
            </a:endParaRPr>
          </a:p>
          <a:p>
            <a:pPr>
              <a:lnSpc>
                <a:spcPct val="160000"/>
              </a:lnSpc>
            </a:pPr>
            <a:r>
              <a:rPr lang="en-IN" sz="2400" dirty="0">
                <a:latin typeface="Times New Roman" panose="02020603050405020304" pitchFamily="18" charset="0"/>
                <a:cs typeface="Times New Roman" panose="02020603050405020304" pitchFamily="18" charset="0"/>
              </a:rPr>
              <a:t>GPS Module </a:t>
            </a:r>
            <a:endParaRPr lang="en-IN" sz="2400" dirty="0">
              <a:latin typeface="Times New Roman" panose="02020603050405020304" pitchFamily="18" charset="0"/>
              <a:cs typeface="Times New Roman" panose="02020603050405020304" pitchFamily="18" charset="0"/>
            </a:endParaRPr>
          </a:p>
          <a:p>
            <a:pPr>
              <a:lnSpc>
                <a:spcPct val="160000"/>
              </a:lnSpc>
            </a:pPr>
            <a:r>
              <a:rPr lang="en-IN" sz="2400" dirty="0">
                <a:latin typeface="Times New Roman" panose="02020603050405020304" pitchFamily="18" charset="0"/>
                <a:cs typeface="Times New Roman" panose="02020603050405020304" pitchFamily="18" charset="0"/>
              </a:rPr>
              <a:t> </a:t>
            </a:r>
            <a:r>
              <a:rPr lang="en-IN" sz="2400" dirty="0" err="1">
                <a:latin typeface="Times New Roman" panose="02020603050405020304" pitchFamily="18" charset="0"/>
                <a:cs typeface="Times New Roman" panose="02020603050405020304" pitchFamily="18" charset="0"/>
              </a:rPr>
              <a:t>LoRaWAN</a:t>
            </a:r>
            <a:r>
              <a:rPr lang="en-IN" sz="2400" dirty="0">
                <a:latin typeface="Times New Roman" panose="02020603050405020304" pitchFamily="18" charset="0"/>
                <a:cs typeface="Times New Roman" panose="02020603050405020304" pitchFamily="18" charset="0"/>
              </a:rPr>
              <a:t> Transceiver </a:t>
            </a:r>
            <a:endParaRPr lang="en-IN" sz="2400" dirty="0">
              <a:latin typeface="Times New Roman" panose="02020603050405020304" pitchFamily="18" charset="0"/>
              <a:cs typeface="Times New Roman" panose="02020603050405020304" pitchFamily="18" charset="0"/>
            </a:endParaRPr>
          </a:p>
          <a:p>
            <a:pPr>
              <a:lnSpc>
                <a:spcPct val="160000"/>
              </a:lnSpc>
            </a:pPr>
            <a:r>
              <a:rPr lang="en-IN" sz="2400" dirty="0">
                <a:latin typeface="Times New Roman" panose="02020603050405020304" pitchFamily="18" charset="0"/>
                <a:cs typeface="Times New Roman" panose="02020603050405020304" pitchFamily="18" charset="0"/>
              </a:rPr>
              <a:t>Audio Actuator </a:t>
            </a:r>
            <a:endParaRPr lang="en-IN" sz="2400" dirty="0">
              <a:latin typeface="Times New Roman" panose="02020603050405020304" pitchFamily="18" charset="0"/>
              <a:cs typeface="Times New Roman" panose="02020603050405020304" pitchFamily="18" charset="0"/>
            </a:endParaRPr>
          </a:p>
          <a:p>
            <a:pPr>
              <a:lnSpc>
                <a:spcPct val="160000"/>
              </a:lnSpc>
            </a:pPr>
            <a:r>
              <a:rPr lang="en-IN" sz="2400" dirty="0">
                <a:latin typeface="Times New Roman" panose="02020603050405020304" pitchFamily="18" charset="0"/>
                <a:cs typeface="Times New Roman" panose="02020603050405020304" pitchFamily="18" charset="0"/>
              </a:rPr>
              <a:t>Stimulus Circuit </a:t>
            </a:r>
            <a:endParaRPr lang="en-IN" sz="2400" dirty="0">
              <a:latin typeface="Times New Roman" panose="02020603050405020304" pitchFamily="18" charset="0"/>
              <a:cs typeface="Times New Roman" panose="02020603050405020304" pitchFamily="18" charset="0"/>
            </a:endParaRPr>
          </a:p>
          <a:p>
            <a:pPr>
              <a:lnSpc>
                <a:spcPct val="160000"/>
              </a:lnSpc>
            </a:pPr>
            <a:r>
              <a:rPr lang="en-IN" sz="2400" dirty="0">
                <a:latin typeface="Times New Roman" panose="02020603050405020304" pitchFamily="18" charset="0"/>
                <a:cs typeface="Times New Roman" panose="02020603050405020304" pitchFamily="18" charset="0"/>
              </a:rPr>
              <a:t>Power System (Battery and Solar panel)</a:t>
            </a:r>
            <a:endParaRPr lang="en-IN" sz="2400" dirty="0">
              <a:latin typeface="Times New Roman" panose="02020603050405020304" pitchFamily="18" charset="0"/>
              <a:cs typeface="Times New Roman" panose="02020603050405020304" pitchFamily="18" charset="0"/>
            </a:endParaRPr>
          </a:p>
          <a:p>
            <a:pPr>
              <a:lnSpc>
                <a:spcPct val="160000"/>
              </a:lnSpc>
            </a:pPr>
            <a:r>
              <a:rPr lang="en-IN" sz="2400" dirty="0">
                <a:latin typeface="Times New Roman" panose="02020603050405020304" pitchFamily="18" charset="0"/>
                <a:cs typeface="Times New Roman" panose="02020603050405020304" pitchFamily="18" charset="0"/>
              </a:rPr>
              <a:t> Antenna and Enclosure </a:t>
            </a:r>
            <a:endParaRPr lang="en-IN" sz="2400" dirty="0">
              <a:latin typeface="Times New Roman" panose="02020603050405020304" pitchFamily="18" charset="0"/>
              <a:cs typeface="Times New Roman" panose="02020603050405020304" pitchFamily="18" charset="0"/>
            </a:endParaRPr>
          </a:p>
          <a:p>
            <a:pPr>
              <a:lnSpc>
                <a:spcPct val="160000"/>
              </a:lnSpc>
            </a:pPr>
            <a:r>
              <a:rPr lang="en-IN" sz="2400" dirty="0">
                <a:latin typeface="Times New Roman" panose="02020603050405020304" pitchFamily="18" charset="0"/>
                <a:cs typeface="Times New Roman" panose="02020603050405020304" pitchFamily="18" charset="0"/>
              </a:rPr>
              <a:t> Raspberry Pi 4 (8 GB RAM) </a:t>
            </a:r>
            <a:endParaRPr lang="en-IN" sz="2400" dirty="0">
              <a:latin typeface="Times New Roman" panose="02020603050405020304" pitchFamily="18" charset="0"/>
              <a:cs typeface="Times New Roman" panose="02020603050405020304" pitchFamily="18" charset="0"/>
            </a:endParaRPr>
          </a:p>
          <a:p>
            <a:pPr>
              <a:lnSpc>
                <a:spcPct val="160000"/>
              </a:lnSpc>
            </a:pPr>
            <a:r>
              <a:rPr lang="en-IN" sz="2400" dirty="0" err="1">
                <a:latin typeface="Times New Roman" panose="02020603050405020304" pitchFamily="18" charset="0"/>
                <a:cs typeface="Times New Roman" panose="02020603050405020304" pitchFamily="18" charset="0"/>
              </a:rPr>
              <a:t>LoRaWAN</a:t>
            </a:r>
            <a:r>
              <a:rPr lang="en-IN" sz="2400" dirty="0">
                <a:latin typeface="Times New Roman" panose="02020603050405020304" pitchFamily="18" charset="0"/>
                <a:cs typeface="Times New Roman" panose="02020603050405020304" pitchFamily="18" charset="0"/>
              </a:rPr>
              <a:t> Gateway Module </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2954" y="276223"/>
            <a:ext cx="10934806" cy="6693537"/>
          </a:xfrm>
        </p:spPr>
        <p:txBody>
          <a:bodyPr>
            <a:normAutofit/>
          </a:bodyPr>
          <a:lstStyle/>
          <a:p>
            <a:pPr marL="285750" indent="-285750">
              <a:buFont typeface="Wingdings" panose="05000000000000000000" charset="0"/>
              <a:buChar char="Ø"/>
            </a:pPr>
            <a:r>
              <a:rPr lang="en-US" dirty="0">
                <a:solidFill>
                  <a:schemeClr val="accent1"/>
                </a:solidFill>
                <a:latin typeface="Times New Roman" panose="02020603050405020304" pitchFamily="18" charset="0"/>
                <a:cs typeface="Times New Roman" panose="02020603050405020304" pitchFamily="18" charset="0"/>
              </a:rPr>
              <a:t> </a:t>
            </a:r>
            <a:r>
              <a:rPr lang="en-IN" dirty="0">
                <a:solidFill>
                  <a:schemeClr val="accent1"/>
                </a:solidFill>
                <a:latin typeface="Times New Roman" panose="02020603050405020304" pitchFamily="18" charset="0"/>
                <a:cs typeface="Times New Roman" panose="02020603050405020304" pitchFamily="18" charset="0"/>
              </a:rPr>
              <a:t>ESP32 MICROCONTROLLER:-</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a:p>
            <a:pPr marL="0" indent="0" algn="just">
              <a:buNone/>
            </a:pPr>
            <a:r>
              <a:rPr lang="en-US" sz="2000" b="1" dirty="0">
                <a:solidFill>
                  <a:schemeClr val="accent1"/>
                </a:solidFill>
                <a:latin typeface="Times New Roman" panose="02020603050405020304" pitchFamily="18" charset="0"/>
                <a:cs typeface="Times New Roman" panose="02020603050405020304" pitchFamily="18" charset="0"/>
              </a:rPr>
              <a:t>Purpose:- </a:t>
            </a:r>
            <a:endParaRPr lang="en-US" sz="2000" b="1" dirty="0">
              <a:solidFill>
                <a:schemeClr val="accent1"/>
              </a:solidFill>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Controls the entire operation of the collar: reading GPS, encoding data, sending packets, receiving commands from the base station, and controlling outputs such as buzzer and pulse circuit.</a:t>
            </a:r>
            <a:endParaRPr lang="en-US" sz="2000" dirty="0">
              <a:solidFill>
                <a:schemeClr val="accent1">
                  <a:lumMod val="75000"/>
                </a:schemeClr>
              </a:solidFill>
              <a:latin typeface="Times New Roman" panose="02020603050405020304" pitchFamily="18" charset="0"/>
              <a:cs typeface="Times New Roman" panose="02020603050405020304" pitchFamily="18" charset="0"/>
            </a:endParaRPr>
          </a:p>
          <a:p>
            <a:pPr marL="0" indent="0" algn="just">
              <a:buNone/>
            </a:pP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solidFill>
                  <a:schemeClr val="accent1"/>
                </a:solidFill>
                <a:latin typeface="Times New Roman" panose="02020603050405020304" pitchFamily="18" charset="0"/>
                <a:cs typeface="Times New Roman" panose="02020603050405020304" pitchFamily="18" charset="0"/>
              </a:rPr>
              <a:t>Features:-</a:t>
            </a:r>
            <a:endParaRPr lang="en-IN" sz="2000" b="1" dirty="0">
              <a:solidFill>
                <a:schemeClr val="accent1"/>
              </a:solidFill>
              <a:latin typeface="Times New Roman" panose="02020603050405020304" pitchFamily="18" charset="0"/>
              <a:cs typeface="Times New Roman" panose="02020603050405020304" pitchFamily="18" charset="0"/>
            </a:endParaRPr>
          </a:p>
          <a:p>
            <a:pPr marL="342900" indent="-342900"/>
            <a:r>
              <a:rPr lang="en-IN" sz="2000" dirty="0">
                <a:latin typeface="Times New Roman" panose="02020603050405020304" pitchFamily="18" charset="0"/>
                <a:cs typeface="Times New Roman" panose="02020603050405020304" pitchFamily="18" charset="0"/>
              </a:rPr>
              <a:t>ESP32 SoC (System-on-Chip) by </a:t>
            </a:r>
            <a:r>
              <a:rPr lang="en-IN" sz="2000" dirty="0" err="1">
                <a:latin typeface="Times New Roman" panose="02020603050405020304" pitchFamily="18" charset="0"/>
                <a:cs typeface="Times New Roman" panose="02020603050405020304" pitchFamily="18" charset="0"/>
              </a:rPr>
              <a:t>Espressif</a:t>
            </a:r>
            <a:r>
              <a:rPr lang="en-IN" sz="2000" dirty="0">
                <a:latin typeface="Times New Roman" panose="02020603050405020304" pitchFamily="18" charset="0"/>
                <a:cs typeface="Times New Roman" panose="02020603050405020304" pitchFamily="18" charset="0"/>
              </a:rPr>
              <a:t> Systems </a:t>
            </a:r>
            <a:endParaRPr lang="en-IN" sz="2000" dirty="0">
              <a:latin typeface="Times New Roman" panose="02020603050405020304" pitchFamily="18" charset="0"/>
              <a:cs typeface="Times New Roman" panose="02020603050405020304" pitchFamily="18" charset="0"/>
            </a:endParaRPr>
          </a:p>
          <a:p>
            <a:pPr marL="342900" indent="-342900"/>
            <a:r>
              <a:rPr lang="en-IN" sz="2000" dirty="0">
                <a:latin typeface="Times New Roman" panose="02020603050405020304" pitchFamily="18" charset="0"/>
                <a:cs typeface="Times New Roman" panose="02020603050405020304" pitchFamily="18" charset="0"/>
              </a:rPr>
              <a:t>Dual-core Tensilica Xtensa LX6 architecture </a:t>
            </a:r>
            <a:endParaRPr lang="en-IN" sz="2000" dirty="0">
              <a:latin typeface="Times New Roman" panose="02020603050405020304" pitchFamily="18" charset="0"/>
              <a:cs typeface="Times New Roman" panose="02020603050405020304" pitchFamily="18" charset="0"/>
            </a:endParaRPr>
          </a:p>
          <a:p>
            <a:pPr marL="342900" indent="-342900"/>
            <a:r>
              <a:rPr lang="en-IN" sz="2000" dirty="0">
                <a:latin typeface="Times New Roman" panose="02020603050405020304" pitchFamily="18" charset="0"/>
                <a:cs typeface="Times New Roman" panose="02020603050405020304" pitchFamily="18" charset="0"/>
              </a:rPr>
              <a:t>Up to 240MHz clock speed with 32-bit processing</a:t>
            </a:r>
            <a:endParaRPr lang="en-IN" sz="2000" dirty="0">
              <a:latin typeface="Times New Roman" panose="02020603050405020304" pitchFamily="18" charset="0"/>
              <a:cs typeface="Times New Roman" panose="02020603050405020304" pitchFamily="18" charset="0"/>
            </a:endParaRPr>
          </a:p>
          <a:p>
            <a:pPr marL="342900" indent="-342900"/>
            <a:r>
              <a:rPr lang="en-IN" sz="2000" dirty="0">
                <a:latin typeface="Times New Roman" panose="02020603050405020304" pitchFamily="18" charset="0"/>
                <a:cs typeface="Times New Roman" panose="02020603050405020304" pitchFamily="18" charset="0"/>
              </a:rPr>
              <a:t>No dedicated GPU, but includes hardware-</a:t>
            </a:r>
            <a:endParaRPr lang="en-IN" sz="2000" dirty="0">
              <a:latin typeface="Times New Roman" panose="02020603050405020304" pitchFamily="18" charset="0"/>
              <a:cs typeface="Times New Roman" panose="02020603050405020304" pitchFamily="18" charset="0"/>
            </a:endParaRPr>
          </a:p>
          <a:p>
            <a:pPr marL="0" indent="0">
              <a:buNone/>
            </a:pPr>
            <a:r>
              <a:rPr lang="en-IN" sz="2000" dirty="0">
                <a:latin typeface="Times New Roman" panose="02020603050405020304" pitchFamily="18" charset="0"/>
                <a:cs typeface="Times New Roman" panose="02020603050405020304" pitchFamily="18" charset="0"/>
              </a:rPr>
              <a:t>accelerated cryptography </a:t>
            </a:r>
            <a:endParaRPr lang="en-US" sz="2000" b="1" dirty="0">
              <a:solidFill>
                <a:schemeClr val="accent1">
                  <a:lumMod val="75000"/>
                </a:schemeClr>
              </a:solidFill>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4" name="object 5"/>
          <p:cNvPicPr/>
          <p:nvPr/>
        </p:nvPicPr>
        <p:blipFill>
          <a:blip r:embed="rId1" cstate="print"/>
          <a:stretch>
            <a:fillRect/>
          </a:stretch>
        </p:blipFill>
        <p:spPr>
          <a:xfrm>
            <a:off x="5730240" y="2204349"/>
            <a:ext cx="6247550" cy="37313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28600" y="182880"/>
            <a:ext cx="11963400" cy="6675120"/>
          </a:xfrm>
          <a:prstGeom prst="rect">
            <a:avLst/>
          </a:prstGeom>
          <a:noFill/>
        </p:spPr>
        <p:txBody>
          <a:bodyPr wrap="square" rtlCol="0">
            <a:noAutofit/>
          </a:bodyPr>
          <a:lstStyle/>
          <a:p>
            <a:pPr marL="342900" indent="-342900">
              <a:lnSpc>
                <a:spcPct val="150000"/>
              </a:lnSpc>
              <a:buFont typeface="Wingdings" panose="05000000000000000000" charset="0"/>
              <a:buChar char="Ø"/>
            </a:pPr>
            <a:r>
              <a:rPr lang="en-IN" sz="2800" dirty="0">
                <a:solidFill>
                  <a:schemeClr val="accent1"/>
                </a:solidFill>
                <a:latin typeface="Times New Roman" panose="02020603050405020304" pitchFamily="18" charset="0"/>
                <a:cs typeface="Times New Roman" panose="02020603050405020304" pitchFamily="18" charset="0"/>
              </a:rPr>
              <a:t>GPS MODULE</a:t>
            </a:r>
            <a:r>
              <a:rPr lang="en-US" sz="2800" b="1" dirty="0">
                <a:solidFill>
                  <a:schemeClr val="accent1"/>
                </a:solidFill>
                <a:latin typeface="Times New Roman" panose="02020603050405020304" pitchFamily="18" charset="0"/>
                <a:cs typeface="Times New Roman" panose="02020603050405020304" pitchFamily="18" charset="0"/>
              </a:rPr>
              <a:t>:-</a:t>
            </a:r>
            <a:endParaRPr lang="en-US" sz="2800" dirty="0">
              <a:solidFill>
                <a:schemeClr val="tx2"/>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Purpose:-   </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It receives timing signals from multiple GPS satellites and computes the position by trilateration. The result is sent as NMEA strings to the microcontroller over UART. The firmware extracts latitude and longitude values from $GPGGA and $GPRMC sentences.</a:t>
            </a:r>
            <a:r>
              <a:rPr lang="en-US" sz="2200" dirty="0">
                <a:latin typeface="Times New Roman" panose="02020603050405020304" pitchFamily="18" charset="0"/>
                <a:cs typeface="Times New Roman" panose="02020603050405020304" pitchFamily="18" charset="0"/>
              </a:rPr>
              <a:t> </a:t>
            </a:r>
            <a:endParaRPr lang="en-US" sz="2200" dirty="0">
              <a:latin typeface="Times New Roman" panose="02020603050405020304" pitchFamily="18" charset="0"/>
              <a:cs typeface="Times New Roman" panose="02020603050405020304" pitchFamily="18" charset="0"/>
            </a:endParaRPr>
          </a:p>
          <a:p>
            <a:pPr>
              <a:lnSpc>
                <a:spcPct val="150000"/>
              </a:lnSpc>
            </a:pPr>
            <a:endParaRPr lang="en-US" sz="2000" b="1" dirty="0">
              <a:solidFill>
                <a:schemeClr val="tx2"/>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Features:-</a:t>
            </a:r>
            <a:endParaRPr lang="en-US" sz="2000" b="1" dirty="0">
              <a:solidFill>
                <a:schemeClr val="accent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 sensitivity and accuracy even in low-signal environments. </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EEPROM memory to store configuration data. </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Inbuilt Passive or Active antenna connector (via SMA or U.FL). </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LED indicator blinks when a valid satellite fix is achieved. </a:t>
            </a:r>
            <a:endParaRPr lang="en-US" sz="2000" b="1" dirty="0">
              <a:solidFill>
                <a:schemeClr val="tx2"/>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pic>
        <p:nvPicPr>
          <p:cNvPr id="3" name="object 26"/>
          <p:cNvPicPr/>
          <p:nvPr/>
        </p:nvPicPr>
        <p:blipFill>
          <a:blip r:embed="rId1" cstate="print"/>
          <a:stretch>
            <a:fillRect/>
          </a:stretch>
        </p:blipFill>
        <p:spPr>
          <a:xfrm>
            <a:off x="7559040" y="2623072"/>
            <a:ext cx="4084320" cy="377772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13360" y="182880"/>
            <a:ext cx="12115800" cy="4838312"/>
          </a:xfrm>
          <a:prstGeom prst="rect">
            <a:avLst/>
          </a:prstGeom>
          <a:noFill/>
        </p:spPr>
        <p:txBody>
          <a:bodyPr wrap="square" rtlCol="0">
            <a:spAutoFit/>
          </a:bodyPr>
          <a:lstStyle/>
          <a:p>
            <a:pPr marL="285750" indent="-285750">
              <a:lnSpc>
                <a:spcPct val="150000"/>
              </a:lnSpc>
              <a:buFont typeface="Wingdings" panose="05000000000000000000" charset="0"/>
              <a:buChar char="Ø"/>
            </a:pPr>
            <a:r>
              <a:rPr lang="en-IN" sz="2800" dirty="0">
                <a:solidFill>
                  <a:schemeClr val="accent1"/>
                </a:solidFill>
                <a:latin typeface="Times New Roman" panose="02020603050405020304" pitchFamily="18" charset="0"/>
                <a:cs typeface="Times New Roman" panose="02020603050405020304" pitchFamily="18" charset="0"/>
              </a:rPr>
              <a:t>LORAWAN TRASCEIVER</a:t>
            </a:r>
            <a:r>
              <a:rPr lang="en-US" sz="2800" b="1" dirty="0">
                <a:solidFill>
                  <a:schemeClr val="accent1"/>
                </a:solidFill>
                <a:latin typeface="Times New Roman" panose="02020603050405020304" pitchFamily="18" charset="0"/>
                <a:cs typeface="Times New Roman" panose="02020603050405020304" pitchFamily="18" charset="0"/>
              </a:rPr>
              <a:t>:-</a:t>
            </a:r>
            <a:endParaRPr lang="en-US" sz="2000" b="1" dirty="0">
              <a:solidFill>
                <a:schemeClr val="tx2"/>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Purpose:-</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Provides reliable data transfer in open farmland areas without requiring cellular or Wi-Fi networks. </a:t>
            </a:r>
            <a:endParaRPr lang="en-US" sz="2000" b="1" dirty="0">
              <a:solidFill>
                <a:schemeClr val="tx2"/>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Features:-</a:t>
            </a:r>
            <a:endParaRPr lang="en-US" sz="2000" b="1" dirty="0">
              <a:solidFill>
                <a:schemeClr val="accent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Frequency Band: 868 MHz (ISM band) </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Range: Up to 5–10 km line-of-sight </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Sensitivity: –139 dBm </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Interface: SPI / UART </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Data Rate: 0.3 – 50 kbps </a:t>
            </a:r>
            <a:endParaRPr lang="en-US" sz="2000" dirty="0">
              <a:solidFill>
                <a:schemeClr val="tx2"/>
              </a:solidFill>
              <a:latin typeface="Times New Roman" panose="02020603050405020304" pitchFamily="18" charset="0"/>
              <a:cs typeface="Times New Roman" panose="02020603050405020304" pitchFamily="18" charset="0"/>
            </a:endParaRPr>
          </a:p>
        </p:txBody>
      </p:sp>
      <p:pic>
        <p:nvPicPr>
          <p:cNvPr id="4" name="object 32"/>
          <p:cNvPicPr/>
          <p:nvPr/>
        </p:nvPicPr>
        <p:blipFill>
          <a:blip r:embed="rId1" cstate="print"/>
          <a:stretch>
            <a:fillRect/>
          </a:stretch>
        </p:blipFill>
        <p:spPr>
          <a:xfrm>
            <a:off x="6842761" y="2258354"/>
            <a:ext cx="4472940" cy="32890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309880" y="203200"/>
            <a:ext cx="11353800" cy="5761642"/>
          </a:xfrm>
          <a:prstGeom prst="rect">
            <a:avLst/>
          </a:prstGeom>
          <a:noFill/>
        </p:spPr>
        <p:txBody>
          <a:bodyPr wrap="square" rtlCol="0">
            <a:spAutoFit/>
          </a:bodyPr>
          <a:lstStyle/>
          <a:p>
            <a:pPr marL="285750" indent="-285750">
              <a:lnSpc>
                <a:spcPct val="150000"/>
              </a:lnSpc>
              <a:buFont typeface="Wingdings" panose="05000000000000000000" charset="0"/>
              <a:buChar char="Ø"/>
            </a:pPr>
            <a:r>
              <a:rPr lang="en-IN" sz="2800" dirty="0">
                <a:solidFill>
                  <a:schemeClr val="accent1"/>
                </a:solidFill>
                <a:latin typeface="Times New Roman" panose="02020603050405020304" pitchFamily="18" charset="0"/>
                <a:cs typeface="Times New Roman" panose="02020603050405020304" pitchFamily="18" charset="0"/>
              </a:rPr>
              <a:t>AUDIO ACTUATOR </a:t>
            </a:r>
            <a:r>
              <a:rPr lang="en-US" sz="2800" b="1" dirty="0">
                <a:solidFill>
                  <a:schemeClr val="accent1"/>
                </a:solidFill>
                <a:latin typeface="Times New Roman" panose="02020603050405020304" pitchFamily="18" charset="0"/>
                <a:cs typeface="Times New Roman" panose="02020603050405020304" pitchFamily="18" charset="0"/>
              </a:rPr>
              <a:t>:-</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Purpose:-   </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Acts as the first level of deterrence—after conditioning, animals usually respond to sound alone, reducing the need for electric stimulus.</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Features:- </a:t>
            </a:r>
            <a:endParaRPr lang="en-US" sz="2000" b="1" dirty="0">
              <a:solidFill>
                <a:schemeClr val="accent1"/>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Weight : </a:t>
            </a:r>
            <a:r>
              <a:rPr lang="en-IN" sz="2000" dirty="0">
                <a:latin typeface="Times New Roman" panose="02020603050405020304" pitchFamily="18" charset="0"/>
                <a:cs typeface="Times New Roman" panose="02020603050405020304" pitchFamily="18" charset="0"/>
              </a:rPr>
              <a:t>~5 g </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Polarity : Marked with "+" for positive terminal</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Material: </a:t>
            </a:r>
            <a:r>
              <a:rPr lang="en-IN" sz="2000" dirty="0">
                <a:latin typeface="Times New Roman" panose="02020603050405020304" pitchFamily="18" charset="0"/>
                <a:cs typeface="Times New Roman" panose="02020603050405020304" pitchFamily="18" charset="0"/>
              </a:rPr>
              <a:t>Plastic casing, piezo ceramic disc inside </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Type: </a:t>
            </a:r>
            <a:r>
              <a:rPr lang="en-IN" sz="2000" dirty="0">
                <a:latin typeface="Times New Roman" panose="02020603050405020304" pitchFamily="18" charset="0"/>
                <a:cs typeface="Times New Roman" panose="02020603050405020304" pitchFamily="18" charset="0"/>
              </a:rPr>
              <a:t>Active or Passive </a:t>
            </a:r>
            <a:endParaRPr lang="en-US" sz="2000" dirty="0">
              <a:solidFill>
                <a:schemeClr val="tx2"/>
              </a:solidFill>
              <a:latin typeface="Times New Roman" panose="02020603050405020304" pitchFamily="18" charset="0"/>
              <a:cs typeface="Times New Roman" panose="02020603050405020304" pitchFamily="18" charset="0"/>
            </a:endParaRPr>
          </a:p>
          <a:p>
            <a:pPr>
              <a:lnSpc>
                <a:spcPct val="150000"/>
              </a:lnSpc>
            </a:pPr>
            <a:endParaRPr lang="en-US" sz="2000" dirty="0">
              <a:solidFill>
                <a:schemeClr val="tx2"/>
              </a:solidFill>
              <a:latin typeface="Times New Roman" panose="02020603050405020304" pitchFamily="18" charset="0"/>
              <a:cs typeface="Times New Roman" panose="02020603050405020304" pitchFamily="18" charset="0"/>
            </a:endParaRPr>
          </a:p>
          <a:p>
            <a:pPr indent="0">
              <a:lnSpc>
                <a:spcPct val="150000"/>
              </a:lnSpc>
              <a:buFont typeface="Wingdings" panose="05000000000000000000" charset="0"/>
              <a:buNone/>
            </a:pPr>
            <a:r>
              <a:rPr lang="en-US" sz="2000" dirty="0">
                <a:solidFill>
                  <a:schemeClr val="tx2"/>
                </a:solidFill>
                <a:latin typeface="Times New Roman" panose="02020603050405020304" pitchFamily="18" charset="0"/>
                <a:cs typeface="Times New Roman" panose="02020603050405020304" pitchFamily="18" charset="0"/>
              </a:rPr>
              <a:t>           </a:t>
            </a:r>
            <a:endParaRPr lang="en-US" sz="2000" dirty="0">
              <a:solidFill>
                <a:schemeClr val="tx2"/>
              </a:solidFill>
              <a:latin typeface="Times New Roman" panose="02020603050405020304" pitchFamily="18" charset="0"/>
              <a:cs typeface="Times New Roman" panose="02020603050405020304" pitchFamily="18" charset="0"/>
            </a:endParaRPr>
          </a:p>
        </p:txBody>
      </p:sp>
      <p:pic>
        <p:nvPicPr>
          <p:cNvPr id="4" name="object 12"/>
          <p:cNvPicPr/>
          <p:nvPr/>
        </p:nvPicPr>
        <p:blipFill>
          <a:blip r:embed="rId1" cstate="print"/>
          <a:stretch>
            <a:fillRect/>
          </a:stretch>
        </p:blipFill>
        <p:spPr>
          <a:xfrm>
            <a:off x="7353732" y="2374392"/>
            <a:ext cx="3680027" cy="34472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271007" y="155805"/>
            <a:ext cx="11284226" cy="5761642"/>
          </a:xfrm>
          <a:prstGeom prst="rect">
            <a:avLst/>
          </a:prstGeom>
          <a:noFill/>
        </p:spPr>
        <p:txBody>
          <a:bodyPr wrap="square" rtlCol="0">
            <a:spAutoFit/>
          </a:bodyPr>
          <a:lstStyle/>
          <a:p>
            <a:pPr marL="285750" indent="-285750">
              <a:lnSpc>
                <a:spcPct val="150000"/>
              </a:lnSpc>
              <a:buFont typeface="Wingdings" panose="05000000000000000000" charset="0"/>
              <a:buChar char="Ø"/>
            </a:pPr>
            <a:r>
              <a:rPr lang="en-IN" sz="2800" dirty="0">
                <a:solidFill>
                  <a:schemeClr val="accent1"/>
                </a:solidFill>
                <a:latin typeface="Times New Roman" panose="02020603050405020304" pitchFamily="18" charset="0"/>
                <a:cs typeface="Times New Roman" panose="02020603050405020304" pitchFamily="18" charset="0"/>
              </a:rPr>
              <a:t>STIMULUS CIRCUIT </a:t>
            </a:r>
            <a:r>
              <a:rPr lang="en-US" sz="2800" b="1" dirty="0">
                <a:solidFill>
                  <a:schemeClr val="accent1"/>
                </a:solidFill>
                <a:latin typeface="Times New Roman" panose="02020603050405020304" pitchFamily="18" charset="0"/>
                <a:cs typeface="Times New Roman" panose="02020603050405020304" pitchFamily="18" charset="0"/>
              </a:rPr>
              <a:t>:-</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Purpose:- </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Serves as the second-level corrective action. It is humane, safe, and designed to startle, not harm, the animal. </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Features:-</a:t>
            </a:r>
            <a:endParaRPr lang="en-US" sz="2000" b="1" dirty="0">
              <a:solidFill>
                <a:schemeClr val="accent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IC Used: MT3608 Step-Up Converter </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Input Voltage Range: 2V – 24V DC</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Output Voltage Range: 5V – 28V DC (adjustable)</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Output Current: </a:t>
            </a:r>
            <a:r>
              <a:rPr lang="en-US" sz="2000" dirty="0">
                <a:latin typeface="Times New Roman" panose="02020603050405020304" pitchFamily="18" charset="0"/>
                <a:cs typeface="Times New Roman" panose="02020603050405020304" pitchFamily="18" charset="0"/>
              </a:rPr>
              <a:t>Up to 2A (peak), 1A continuous </a:t>
            </a:r>
            <a:endParaRPr lang="en-US"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recommended</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4" name="object 33"/>
          <p:cNvPicPr/>
          <p:nvPr/>
        </p:nvPicPr>
        <p:blipFill>
          <a:blip r:embed="rId1" cstate="print"/>
          <a:stretch>
            <a:fillRect/>
          </a:stretch>
        </p:blipFill>
        <p:spPr>
          <a:xfrm>
            <a:off x="6619240" y="2514600"/>
            <a:ext cx="4833620" cy="30359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1"/>
          <p:cNvSpPr txBox="1"/>
          <p:nvPr/>
        </p:nvSpPr>
        <p:spPr>
          <a:xfrm>
            <a:off x="440054" y="345440"/>
            <a:ext cx="11157586" cy="6101080"/>
          </a:xfrm>
          <a:prstGeom prst="rect">
            <a:avLst/>
          </a:prstGeom>
          <a:noFill/>
        </p:spPr>
        <p:txBody>
          <a:bodyPr wrap="square" rtlCol="0">
            <a:noAutofit/>
          </a:bodyPr>
          <a:lstStyle/>
          <a:p>
            <a:pPr marL="285750" indent="-285750">
              <a:lnSpc>
                <a:spcPct val="150000"/>
              </a:lnSpc>
              <a:buFont typeface="Wingdings" panose="05000000000000000000" charset="0"/>
              <a:buChar char="Ø"/>
            </a:pPr>
            <a:r>
              <a:rPr lang="en-IN" sz="2800" dirty="0">
                <a:solidFill>
                  <a:schemeClr val="accent1"/>
                </a:solidFill>
                <a:latin typeface="Times New Roman" panose="02020603050405020304" pitchFamily="18" charset="0"/>
                <a:cs typeface="Times New Roman" panose="02020603050405020304" pitchFamily="18" charset="0"/>
              </a:rPr>
              <a:t>POWER SYSTEM (BATTERY AND SOLAR PANEL)</a:t>
            </a:r>
            <a:r>
              <a:rPr lang="en-US" sz="2800" b="1" dirty="0">
                <a:solidFill>
                  <a:schemeClr val="accent1"/>
                </a:solidFill>
                <a:latin typeface="Times New Roman" panose="02020603050405020304" pitchFamily="18" charset="0"/>
                <a:cs typeface="Times New Roman" panose="02020603050405020304" pitchFamily="18" charset="0"/>
              </a:rPr>
              <a:t>:-</a:t>
            </a:r>
            <a:endParaRPr lang="en-US" sz="28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Purpose:-  </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The power system keeps the collar running continuously without frequent maintenance. </a:t>
            </a:r>
            <a:endParaRPr lang="en-US" sz="2000" dirty="0">
              <a:solidFill>
                <a:schemeClr val="accent1"/>
              </a:solidFill>
              <a:latin typeface="Times New Roman" panose="02020603050405020304" pitchFamily="18" charset="0"/>
              <a:cs typeface="Times New Roman" panose="02020603050405020304" pitchFamily="18" charset="0"/>
            </a:endParaRPr>
          </a:p>
          <a:p>
            <a:pPr>
              <a:lnSpc>
                <a:spcPct val="150000"/>
              </a:lnSpc>
            </a:pPr>
            <a:endParaRPr lang="en-US" sz="2000" dirty="0">
              <a:solidFill>
                <a:schemeClr val="tx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Features:-</a:t>
            </a:r>
            <a:endParaRPr lang="en-US" sz="2000" b="1" dirty="0">
              <a:solidFill>
                <a:schemeClr val="accent1"/>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Li-ion battery 3.7 V / 4000 </a:t>
            </a:r>
            <a:r>
              <a:rPr lang="en-US" sz="2000" dirty="0" err="1">
                <a:latin typeface="Times New Roman" panose="02020603050405020304" pitchFamily="18" charset="0"/>
                <a:cs typeface="Times New Roman" panose="02020603050405020304" pitchFamily="18" charset="0"/>
              </a:rPr>
              <a:t>mAh</a:t>
            </a:r>
            <a:r>
              <a:rPr lang="en-US" sz="2000"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Solar panel 5 V / 1 W </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TP4056 charging IC with protection circuit </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AMS1117-3.3 V regulator for stable supply</a:t>
            </a:r>
            <a:endParaRPr lang="en-US" sz="2000" dirty="0">
              <a:solidFill>
                <a:schemeClr val="accent1"/>
              </a:solidFill>
              <a:latin typeface="Times New Roman" panose="02020603050405020304" pitchFamily="18" charset="0"/>
              <a:cs typeface="Times New Roman" panose="02020603050405020304" pitchFamily="18" charset="0"/>
            </a:endParaRPr>
          </a:p>
          <a:p>
            <a:pPr indent="0">
              <a:lnSpc>
                <a:spcPct val="150000"/>
              </a:lnSpc>
              <a:buFont typeface="Wingdings" panose="05000000000000000000" charset="0"/>
              <a:buNone/>
            </a:pPr>
            <a:endParaRPr lang="en-US" sz="2400" b="1" dirty="0">
              <a:solidFill>
                <a:schemeClr val="tx2">
                  <a:lumMod val="75000"/>
                </a:schemeClr>
              </a:solidFill>
              <a:latin typeface="Times New Roman" panose="02020603050405020304" pitchFamily="18" charset="0"/>
              <a:cs typeface="Times New Roman" panose="02020603050405020304" pitchFamily="18" charset="0"/>
            </a:endParaRPr>
          </a:p>
        </p:txBody>
      </p:sp>
      <p:pic>
        <p:nvPicPr>
          <p:cNvPr id="4" name="object 12"/>
          <p:cNvPicPr/>
          <p:nvPr/>
        </p:nvPicPr>
        <p:blipFill>
          <a:blip r:embed="rId1" cstate="print"/>
          <a:stretch>
            <a:fillRect/>
          </a:stretch>
        </p:blipFill>
        <p:spPr>
          <a:xfrm>
            <a:off x="7872556" y="2466621"/>
            <a:ext cx="2627804" cy="271497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6849" y="266410"/>
            <a:ext cx="11047271" cy="9387185"/>
          </a:xfrm>
          <a:prstGeom prst="rect">
            <a:avLst/>
          </a:prstGeom>
          <a:noFill/>
        </p:spPr>
        <p:txBody>
          <a:bodyPr wrap="square" rtlCol="0">
            <a:spAutoFit/>
          </a:bodyPr>
          <a:lstStyle/>
          <a:p>
            <a:pPr marL="285750" indent="-285750">
              <a:buFont typeface="Wingdings" panose="05000000000000000000" pitchFamily="2" charset="2"/>
              <a:buChar char="Ø"/>
            </a:pPr>
            <a:r>
              <a:rPr lang="en-IN" sz="2800" dirty="0">
                <a:solidFill>
                  <a:schemeClr val="accent1"/>
                </a:solidFill>
                <a:latin typeface="Times New Roman" panose="02020603050405020304" pitchFamily="18" charset="0"/>
                <a:cs typeface="Times New Roman" panose="02020603050405020304" pitchFamily="18" charset="0"/>
              </a:rPr>
              <a:t>ANTENNA AND ENCLOSURE:- </a:t>
            </a:r>
            <a:endParaRPr lang="en-IN" sz="2800"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Purpose:-</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The antenna is used to enable long-range wireless communication between the animal collar and the base station. It helps transmit GPS location data and receive virtual boundary alerts, ensuring reliable real-time tracking and control in the virtual fencing system.</a:t>
            </a:r>
            <a:endParaRPr lang="en-US" sz="2000" dirty="0">
              <a:latin typeface="Times New Roman" panose="02020603050405020304" pitchFamily="18" charset="0"/>
              <a:cs typeface="Times New Roman" panose="02020603050405020304" pitchFamily="18" charset="0"/>
            </a:endParaRPr>
          </a:p>
          <a:p>
            <a:pPr>
              <a:lnSpc>
                <a:spcPct val="150000"/>
              </a:lnSpc>
            </a:pP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Features:-</a:t>
            </a:r>
            <a:endParaRPr lang="en-US" sz="2000" b="1" dirty="0">
              <a:solidFill>
                <a:schemeClr val="accent1"/>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Frequency range: Around 855 to 880 MHz, </a:t>
            </a:r>
            <a:r>
              <a:rPr lang="en-IN" sz="2000" dirty="0" err="1">
                <a:latin typeface="Times New Roman" panose="02020603050405020304" pitchFamily="18" charset="0"/>
                <a:cs typeface="Times New Roman" panose="02020603050405020304" pitchFamily="18" charset="0"/>
              </a:rPr>
              <a:t>centered</a:t>
            </a:r>
            <a:r>
              <a:rPr lang="en-IN" sz="2000" dirty="0">
                <a:latin typeface="Times New Roman" panose="02020603050405020304" pitchFamily="18" charset="0"/>
                <a:cs typeface="Times New Roman" panose="02020603050405020304" pitchFamily="18" charset="0"/>
              </a:rPr>
              <a:t> on 868 MHz </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Wavelength: 1/4 wavelength (~8.6 cm for 868 MHz) </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Gain: Approximately -3.65 </a:t>
            </a:r>
            <a:r>
              <a:rPr lang="en-IN" sz="2000" dirty="0" err="1">
                <a:latin typeface="Times New Roman" panose="02020603050405020304" pitchFamily="18" charset="0"/>
                <a:cs typeface="Times New Roman" panose="02020603050405020304" pitchFamily="18" charset="0"/>
              </a:rPr>
              <a:t>dBd</a:t>
            </a:r>
            <a:r>
              <a:rPr lang="en-IN" sz="2000" dirty="0">
                <a:latin typeface="Times New Roman" panose="02020603050405020304" pitchFamily="18" charset="0"/>
                <a:cs typeface="Times New Roman" panose="02020603050405020304" pitchFamily="18" charset="0"/>
              </a:rPr>
              <a:t> (around -1.5 </a:t>
            </a:r>
            <a:r>
              <a:rPr lang="en-IN" sz="2000" dirty="0" err="1">
                <a:latin typeface="Times New Roman" panose="02020603050405020304" pitchFamily="18" charset="0"/>
                <a:cs typeface="Times New Roman" panose="02020603050405020304" pitchFamily="18" charset="0"/>
              </a:rPr>
              <a:t>dBi</a:t>
            </a:r>
            <a:r>
              <a:rPr lang="en-IN" sz="2000" dirty="0">
                <a:latin typeface="Times New Roman" panose="02020603050405020304" pitchFamily="18" charset="0"/>
                <a:cs typeface="Times New Roman" panose="02020603050405020304" pitchFamily="18" charset="0"/>
              </a:rPr>
              <a:t>) for basic</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 models, or up to 2-4 </a:t>
            </a:r>
            <a:r>
              <a:rPr lang="en-IN" sz="2000" dirty="0" err="1">
                <a:latin typeface="Times New Roman" panose="02020603050405020304" pitchFamily="18" charset="0"/>
                <a:cs typeface="Times New Roman" panose="02020603050405020304" pitchFamily="18" charset="0"/>
              </a:rPr>
              <a:t>dBi</a:t>
            </a:r>
            <a:r>
              <a:rPr lang="en-IN" sz="2000" dirty="0">
                <a:latin typeface="Times New Roman" panose="02020603050405020304" pitchFamily="18" charset="0"/>
                <a:cs typeface="Times New Roman" panose="02020603050405020304" pitchFamily="18" charset="0"/>
              </a:rPr>
              <a:t> for optimized designs </a:t>
            </a:r>
            <a:endParaRPr lang="en-IN"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VSWR (Voltage Standing Wave Ratio): Less than 1.9 typical</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 at </a:t>
            </a:r>
            <a:r>
              <a:rPr lang="en-IN" sz="2000" dirty="0" err="1">
                <a:latin typeface="Times New Roman" panose="02020603050405020304" pitchFamily="18" charset="0"/>
                <a:cs typeface="Times New Roman" panose="02020603050405020304" pitchFamily="18" charset="0"/>
              </a:rPr>
              <a:t>center</a:t>
            </a:r>
            <a:r>
              <a:rPr lang="en-IN" sz="2000" dirty="0">
                <a:latin typeface="Times New Roman" panose="02020603050405020304" pitchFamily="18" charset="0"/>
                <a:cs typeface="Times New Roman" panose="02020603050405020304" pitchFamily="18" charset="0"/>
              </a:rPr>
              <a:t> frequency, indicating good impedance matching.</a:t>
            </a:r>
            <a:endParaRPr lang="en-US" sz="2000" dirty="0">
              <a:solidFill>
                <a:schemeClr val="tx2">
                  <a:lumMod val="75000"/>
                </a:schemeClr>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p:txBody>
      </p:sp>
      <p:pic>
        <p:nvPicPr>
          <p:cNvPr id="3" name="object 4"/>
          <p:cNvPicPr/>
          <p:nvPr/>
        </p:nvPicPr>
        <p:blipFill>
          <a:blip r:embed="rId1" cstate="print"/>
          <a:stretch>
            <a:fillRect/>
          </a:stretch>
        </p:blipFill>
        <p:spPr>
          <a:xfrm>
            <a:off x="7868920" y="2824480"/>
            <a:ext cx="3427271" cy="303275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8539" y="264824"/>
            <a:ext cx="11492922" cy="8679299"/>
          </a:xfrm>
          <a:prstGeom prst="rect">
            <a:avLst/>
          </a:prstGeom>
          <a:noFill/>
        </p:spPr>
        <p:txBody>
          <a:bodyPr wrap="square" rtlCol="0">
            <a:spAutoFit/>
          </a:bodyPr>
          <a:lstStyle/>
          <a:p>
            <a:pPr marL="285750" indent="-285750">
              <a:buFont typeface="Wingdings" panose="05000000000000000000" pitchFamily="2" charset="2"/>
              <a:buChar char="Ø"/>
            </a:pPr>
            <a:r>
              <a:rPr lang="en-IN" sz="2800" dirty="0">
                <a:solidFill>
                  <a:schemeClr val="accent1"/>
                </a:solidFill>
                <a:latin typeface="Times New Roman" panose="02020603050405020304" pitchFamily="18" charset="0"/>
                <a:cs typeface="Times New Roman" panose="02020603050405020304" pitchFamily="18" charset="0"/>
              </a:rPr>
              <a:t> RASPBERRY PI 4 (8 GB RAM):-</a:t>
            </a:r>
            <a:r>
              <a:rPr lang="en-IN" sz="28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Purpose:-</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Acts as the main processing node and gateway, eliminating the need for cloud servers or internet connectivity. </a:t>
            </a:r>
            <a:endParaRPr lang="en-US" sz="2000" b="1" dirty="0">
              <a:solidFill>
                <a:schemeClr val="tx2"/>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r>
              <a:rPr lang="en-US" sz="2000" b="1" dirty="0">
                <a:solidFill>
                  <a:schemeClr val="accent1"/>
                </a:solidFill>
                <a:latin typeface="Times New Roman" panose="02020603050405020304" pitchFamily="18" charset="0"/>
                <a:cs typeface="Times New Roman" panose="02020603050405020304" pitchFamily="18" charset="0"/>
              </a:rPr>
              <a:t>Features:-</a:t>
            </a:r>
            <a:endParaRPr lang="en-US" sz="2000" b="1" dirty="0">
              <a:solidFill>
                <a:schemeClr val="tx2">
                  <a:lumMod val="75000"/>
                </a:schemeClr>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IC Used MxL7704 Power Management IC (PMIC)</a:t>
            </a:r>
            <a:endParaRPr lang="en-US"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Input Voltage Range 5V DC (USB-C or GPIO), </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Absolute Max: 6V </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Output Voltage Range 3.3V, 1.8V, 1.2V, 1.5V, 1.0V </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(from PMIC for SoC, memory, I/O, etc.) </a:t>
            </a:r>
            <a:endParaRPr lang="en-IN" sz="2000"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Output Current Up to 3A (recommended), 2.5A </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dirty="0">
                <a:latin typeface="Times New Roman" panose="02020603050405020304" pitchFamily="18" charset="0"/>
                <a:cs typeface="Times New Roman" panose="02020603050405020304" pitchFamily="18" charset="0"/>
              </a:rPr>
              <a:t>minimum for light loads</a:t>
            </a: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sz="2000"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pic>
        <p:nvPicPr>
          <p:cNvPr id="2050"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425913" y="2301240"/>
            <a:ext cx="5527548" cy="37033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40179" y="351065"/>
            <a:ext cx="11511642" cy="7448193"/>
          </a:xfrm>
          <a:prstGeom prst="rect">
            <a:avLst/>
          </a:prstGeom>
          <a:noFill/>
        </p:spPr>
        <p:txBody>
          <a:bodyPr wrap="square" rtlCol="0">
            <a:spAutoFit/>
          </a:bodyPr>
          <a:lstStyle/>
          <a:p>
            <a:pPr marL="342900" indent="-342900">
              <a:buFont typeface="Wingdings" panose="05000000000000000000" pitchFamily="2" charset="2"/>
              <a:buChar char="Ø"/>
            </a:pPr>
            <a:r>
              <a:rPr lang="en-IN" sz="2800" dirty="0">
                <a:solidFill>
                  <a:schemeClr val="accent1"/>
                </a:solidFill>
                <a:latin typeface="Times New Roman" panose="02020603050405020304" pitchFamily="18" charset="0"/>
                <a:cs typeface="Times New Roman" panose="02020603050405020304" pitchFamily="18" charset="0"/>
              </a:rPr>
              <a:t>LORAWAN GATEWAY MODULE:-   </a:t>
            </a:r>
            <a:endParaRPr lang="en-IN" sz="2800"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Purpose:-</a:t>
            </a:r>
            <a:endParaRPr lang="en-US" sz="2000" b="1"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Provides robust and scalable wireless coverage, enabling the monitoring of many animals under a single gateway.</a:t>
            </a:r>
            <a:endParaRPr lang="en-US" sz="2000" dirty="0">
              <a:solidFill>
                <a:schemeClr val="tx2"/>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000" dirty="0">
              <a:solidFill>
                <a:schemeClr val="accent1"/>
              </a:solidFill>
              <a:latin typeface="Times New Roman" panose="02020603050405020304" pitchFamily="18" charset="0"/>
              <a:cs typeface="Times New Roman" panose="02020603050405020304" pitchFamily="18" charset="0"/>
            </a:endParaRPr>
          </a:p>
          <a:p>
            <a:pPr>
              <a:lnSpc>
                <a:spcPct val="150000"/>
              </a:lnSpc>
            </a:pPr>
            <a:r>
              <a:rPr lang="en-US" sz="2000" b="1" dirty="0">
                <a:solidFill>
                  <a:schemeClr val="accent1"/>
                </a:solidFill>
                <a:latin typeface="Times New Roman" panose="02020603050405020304" pitchFamily="18" charset="0"/>
                <a:cs typeface="Times New Roman" panose="02020603050405020304" pitchFamily="18" charset="0"/>
              </a:rPr>
              <a:t>Features:-</a:t>
            </a:r>
            <a:endParaRPr lang="en-US" sz="2000" b="1" dirty="0">
              <a:solidFill>
                <a:schemeClr val="accent1"/>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3V3 Power +3.3 V power supply </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5V Power +5 V power supply</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SDA1 I/O I²C data</a:t>
            </a:r>
            <a:endParaRPr lang="en-US" sz="2000" dirty="0">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5V Power +5 V power supply</a:t>
            </a:r>
            <a:endParaRPr lang="en-US" sz="2000" dirty="0">
              <a:solidFill>
                <a:schemeClr val="tx2">
                  <a:lumMod val="75000"/>
                </a:schemeClr>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200" dirty="0">
              <a:solidFill>
                <a:schemeClr val="accent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IN" sz="2400" dirty="0">
              <a:solidFill>
                <a:schemeClr val="accent1"/>
              </a:solidFill>
              <a:latin typeface="Times New Roman" panose="02020603050405020304" pitchFamily="18" charset="0"/>
              <a:cs typeface="Times New Roman" panose="02020603050405020304" pitchFamily="18" charset="0"/>
            </a:endParaRPr>
          </a:p>
          <a:p>
            <a:pPr marL="342900" indent="-342900">
              <a:buFont typeface="Wingdings" panose="05000000000000000000" pitchFamily="2" charset="2"/>
              <a:buChar char="Ø"/>
            </a:pPr>
            <a:endParaRPr lang="en-US" sz="2400" dirty="0">
              <a:solidFill>
                <a:schemeClr val="accent1"/>
              </a:solidFill>
              <a:latin typeface="Times New Roman" panose="02020603050405020304" pitchFamily="18" charset="0"/>
              <a:cs typeface="Times New Roman" panose="02020603050405020304" pitchFamily="18" charset="0"/>
            </a:endParaRPr>
          </a:p>
        </p:txBody>
      </p:sp>
      <p:pic>
        <p:nvPicPr>
          <p:cNvPr id="4" name="object 5"/>
          <p:cNvPicPr/>
          <p:nvPr/>
        </p:nvPicPr>
        <p:blipFill>
          <a:blip r:embed="rId1" cstate="print"/>
          <a:stretch>
            <a:fillRect/>
          </a:stretch>
        </p:blipFill>
        <p:spPr>
          <a:xfrm>
            <a:off x="4882787" y="2462892"/>
            <a:ext cx="6969034" cy="314542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325755" y="238125"/>
            <a:ext cx="4064000" cy="521970"/>
          </a:xfrm>
          <a:prstGeom prst="rect">
            <a:avLst/>
          </a:prstGeom>
          <a:noFill/>
        </p:spPr>
        <p:txBody>
          <a:bodyPr wrap="square" rtlCol="0">
            <a:spAutoFit/>
          </a:bodyPr>
          <a:p>
            <a:pPr marL="285750" indent="-285750">
              <a:buFont typeface="Wingdings" panose="05000000000000000000" charset="0"/>
              <a:buChar char="Ø"/>
            </a:pPr>
            <a:r>
              <a:rPr lang="en-US" sz="2800">
                <a:solidFill>
                  <a:schemeClr val="accent1"/>
                </a:solidFill>
                <a:latin typeface="Times New Roman" panose="02020603050405020304" pitchFamily="18" charset="0"/>
                <a:cs typeface="Times New Roman" panose="02020603050405020304" pitchFamily="18" charset="0"/>
              </a:rPr>
              <a:t>CIRCUIT DIAGRAM</a:t>
            </a:r>
            <a:endParaRPr lang="en-US" sz="2800">
              <a:solidFill>
                <a:schemeClr val="accent1"/>
              </a:solidFill>
              <a:latin typeface="Times New Roman" panose="02020603050405020304" pitchFamily="18" charset="0"/>
              <a:cs typeface="Times New Roman" panose="02020603050405020304" pitchFamily="18" charset="0"/>
            </a:endParaRPr>
          </a:p>
        </p:txBody>
      </p:sp>
      <p:pic>
        <p:nvPicPr>
          <p:cNvPr id="5" name="Picture 2"/>
          <p:cNvPicPr>
            <a:picLocks noChangeAspect="1"/>
          </p:cNvPicPr>
          <p:nvPr/>
        </p:nvPicPr>
        <p:blipFill>
          <a:blip r:embed="rId1"/>
          <a:srcRect l="14064" t="12752" r="11521" b="14509"/>
          <a:stretch>
            <a:fillRect/>
          </a:stretch>
        </p:blipFill>
        <p:spPr>
          <a:xfrm>
            <a:off x="885825" y="837565"/>
            <a:ext cx="10206355" cy="576135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54025" y="239395"/>
            <a:ext cx="10581640" cy="5860415"/>
          </a:xfrm>
          <a:prstGeom prst="rect">
            <a:avLst/>
          </a:prstGeom>
          <a:noFill/>
        </p:spPr>
        <p:txBody>
          <a:bodyPr wrap="square" rtlCol="0">
            <a:noAutofit/>
          </a:bodyPr>
          <a:p>
            <a:pPr marL="285750" indent="-285750">
              <a:buFont typeface="Wingdings" panose="05000000000000000000" charset="0"/>
              <a:buChar char="Ø"/>
            </a:pPr>
            <a:r>
              <a:rPr lang="en-US" sz="2800">
                <a:solidFill>
                  <a:schemeClr val="accent1"/>
                </a:solidFill>
                <a:latin typeface="Times New Roman" panose="02020603050405020304" pitchFamily="18" charset="0"/>
                <a:cs typeface="Times New Roman" panose="02020603050405020304" pitchFamily="18" charset="0"/>
              </a:rPr>
              <a:t>SOFTWARE REQUIREMENTS</a:t>
            </a:r>
            <a:endParaRPr lang="en-US" sz="280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Ø"/>
            </a:pPr>
            <a:endParaRPr lang="en-US" sz="2800">
              <a:solidFill>
                <a:schemeClr val="accent1"/>
              </a:solidFill>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400">
                <a:solidFill>
                  <a:schemeClr val="tx1"/>
                </a:solidFill>
                <a:latin typeface="Times New Roman" panose="02020603050405020304" pitchFamily="18" charset="0"/>
                <a:cs typeface="Times New Roman" panose="02020603050405020304" pitchFamily="18" charset="0"/>
              </a:rPr>
              <a:t>Collar Tag</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Arduino IDE Software</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C / C++ programming language</a:t>
            </a:r>
            <a:endParaRPr lang="en-US" sz="2000">
              <a:solidFill>
                <a:schemeClr val="tx1"/>
              </a:solidFill>
              <a:latin typeface="Times New Roman" panose="02020603050405020304" pitchFamily="18" charset="0"/>
              <a:cs typeface="Times New Roman" panose="02020603050405020304" pitchFamily="18" charset="0"/>
            </a:endParaRPr>
          </a:p>
          <a:p>
            <a:pPr indent="0">
              <a:buFont typeface="+mj-lt"/>
              <a:buNone/>
            </a:pPr>
            <a:endParaRPr lang="en-US" sz="2000">
              <a:solidFill>
                <a:schemeClr val="tx1"/>
              </a:solidFill>
              <a:latin typeface="Times New Roman" panose="02020603050405020304" pitchFamily="18" charset="0"/>
              <a:cs typeface="Times New Roman" panose="02020603050405020304" pitchFamily="18" charset="0"/>
            </a:endParaRPr>
          </a:p>
          <a:p>
            <a:pPr indent="0">
              <a:buFont typeface="+mj-lt"/>
              <a:buNone/>
            </a:pPr>
            <a:r>
              <a:rPr lang="en-US" sz="2400">
                <a:solidFill>
                  <a:schemeClr val="tx1"/>
                </a:solidFill>
                <a:latin typeface="Times New Roman" panose="02020603050405020304" pitchFamily="18" charset="0"/>
                <a:cs typeface="Times New Roman" panose="02020603050405020304" pitchFamily="18" charset="0"/>
              </a:rPr>
              <a:t>2.   Base Station</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Raspberry Pi OS</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Python language</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000">
              <a:solidFill>
                <a:schemeClr val="tx1"/>
              </a:solidFill>
              <a:latin typeface="Times New Roman" panose="02020603050405020304" pitchFamily="18" charset="0"/>
              <a:cs typeface="Times New Roman" panose="02020603050405020304" pitchFamily="18" charset="0"/>
            </a:endParaRPr>
          </a:p>
          <a:p>
            <a:pPr indent="0">
              <a:buFont typeface="+mj-lt"/>
              <a:buNone/>
            </a:pPr>
            <a:r>
              <a:rPr lang="en-US" sz="2400">
                <a:solidFill>
                  <a:schemeClr val="tx1"/>
                </a:solidFill>
                <a:latin typeface="Times New Roman" panose="02020603050405020304" pitchFamily="18" charset="0"/>
                <a:cs typeface="Times New Roman" panose="02020603050405020304" pitchFamily="18" charset="0"/>
              </a:rPr>
              <a:t>3.   LoraWan Communication</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LoraWan Packet Forwarder</a:t>
            </a:r>
            <a:endParaRPr lang="en-US" sz="2000">
              <a:solidFill>
                <a:schemeClr val="tx1"/>
              </a:solidFill>
              <a:latin typeface="Times New Roman" panose="02020603050405020304" pitchFamily="18" charset="0"/>
              <a:cs typeface="Times New Roman" panose="02020603050405020304" pitchFamily="18" charset="0"/>
            </a:endParaRPr>
          </a:p>
          <a:p>
            <a:pPr indent="0">
              <a:buFont typeface="+mj-lt"/>
              <a:buNone/>
            </a:pPr>
            <a:endParaRPr lang="en-US" sz="2000">
              <a:solidFill>
                <a:schemeClr val="tx1"/>
              </a:solidFill>
              <a:latin typeface="Times New Roman" panose="02020603050405020304" pitchFamily="18" charset="0"/>
              <a:cs typeface="Times New Roman" panose="02020603050405020304" pitchFamily="18" charset="0"/>
            </a:endParaRPr>
          </a:p>
          <a:p>
            <a:pPr indent="0">
              <a:buFont typeface="+mj-lt"/>
              <a:buNone/>
            </a:pPr>
            <a:r>
              <a:rPr lang="en-US" sz="2400">
                <a:solidFill>
                  <a:schemeClr val="tx1"/>
                </a:solidFill>
                <a:latin typeface="Times New Roman" panose="02020603050405020304" pitchFamily="18" charset="0"/>
                <a:cs typeface="Times New Roman" panose="02020603050405020304" pitchFamily="18" charset="0"/>
              </a:rPr>
              <a:t>4.   Web Application</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Framework  (Django)</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API’s (Googlemaps API)</a:t>
            </a:r>
            <a:endParaRPr lang="en-US" sz="2000">
              <a:solidFill>
                <a:schemeClr val="tx1"/>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000">
                <a:solidFill>
                  <a:schemeClr val="tx1"/>
                </a:solidFill>
                <a:latin typeface="Times New Roman" panose="02020603050405020304" pitchFamily="18" charset="0"/>
                <a:cs typeface="Times New Roman" panose="02020603050405020304" pitchFamily="18" charset="0"/>
              </a:rPr>
              <a:t>Database (MySQL)</a:t>
            </a:r>
            <a:endParaRPr lang="en-US" sz="200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Box 2"/>
          <p:cNvSpPr txBox="1"/>
          <p:nvPr/>
        </p:nvSpPr>
        <p:spPr>
          <a:xfrm>
            <a:off x="437515" y="350520"/>
            <a:ext cx="10581640" cy="5860415"/>
          </a:xfrm>
          <a:prstGeom prst="rect">
            <a:avLst/>
          </a:prstGeom>
          <a:noFill/>
        </p:spPr>
        <p:txBody>
          <a:bodyPr wrap="square" rtlCol="0">
            <a:noAutofit/>
          </a:bodyPr>
          <a:p>
            <a:pPr marL="285750" indent="-285750">
              <a:buFont typeface="Wingdings" panose="05000000000000000000" charset="0"/>
              <a:buChar char="Ø"/>
            </a:pPr>
            <a:r>
              <a:rPr lang="en-US" sz="2800">
                <a:solidFill>
                  <a:schemeClr val="accent1"/>
                </a:solidFill>
                <a:latin typeface="Times New Roman" panose="02020603050405020304" pitchFamily="18" charset="0"/>
                <a:cs typeface="Times New Roman" panose="02020603050405020304" pitchFamily="18" charset="0"/>
              </a:rPr>
              <a:t>FLOW CHART</a:t>
            </a:r>
            <a:endParaRPr lang="en-US" sz="2800">
              <a:solidFill>
                <a:schemeClr val="accent1"/>
              </a:solidFill>
              <a:latin typeface="Times New Roman" panose="02020603050405020304" pitchFamily="18" charset="0"/>
              <a:cs typeface="Times New Roman" panose="02020603050405020304" pitchFamily="18" charset="0"/>
            </a:endParaRPr>
          </a:p>
          <a:p>
            <a:pPr marL="285750" indent="-285750">
              <a:buFont typeface="Wingdings" panose="05000000000000000000" charset="0"/>
              <a:buChar char="Ø"/>
            </a:pPr>
            <a:endParaRPr lang="en-US" sz="2800">
              <a:solidFill>
                <a:schemeClr val="accent1"/>
              </a:solidFill>
              <a:latin typeface="Times New Roman" panose="02020603050405020304" pitchFamily="18" charset="0"/>
              <a:cs typeface="Times New Roman" panose="02020603050405020304" pitchFamily="18" charset="0"/>
            </a:endParaRPr>
          </a:p>
          <a:p>
            <a:pPr indent="0">
              <a:buFont typeface="Wingdings" panose="05000000000000000000" charset="0"/>
              <a:buNone/>
            </a:pPr>
            <a:endParaRPr lang="en-US" sz="2800">
              <a:solidFill>
                <a:schemeClr val="accent1"/>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1"/>
          <a:stretch>
            <a:fillRect/>
          </a:stretch>
        </p:blipFill>
        <p:spPr>
          <a:xfrm>
            <a:off x="2214245" y="869950"/>
            <a:ext cx="8335645" cy="5621020"/>
          </a:xfrm>
          <a:prstGeom prst="rect">
            <a:avLst/>
          </a:prstGeom>
        </p:spPr>
      </p:pic>
      <p:pic>
        <p:nvPicPr>
          <p:cNvPr id="7" name="Picture 6"/>
          <p:cNvPicPr>
            <a:picLocks noChangeAspect="1"/>
          </p:cNvPicPr>
          <p:nvPr/>
        </p:nvPicPr>
        <p:blipFill>
          <a:blip r:embed="rId2"/>
          <a:srcRect b="18724"/>
          <a:stretch>
            <a:fillRect/>
          </a:stretch>
        </p:blipFill>
        <p:spPr>
          <a:xfrm>
            <a:off x="2325370" y="1408430"/>
            <a:ext cx="4000500" cy="4548505"/>
          </a:xfrm>
          <a:prstGeom prst="rect">
            <a:avLst/>
          </a:prstGeom>
        </p:spPr>
      </p:pic>
      <p:sp>
        <p:nvSpPr>
          <p:cNvPr id="8" name="Rounded Rectangle 7"/>
          <p:cNvSpPr/>
          <p:nvPr/>
        </p:nvSpPr>
        <p:spPr>
          <a:xfrm>
            <a:off x="3490595" y="5930900"/>
            <a:ext cx="1910715" cy="433070"/>
          </a:xfrm>
          <a:prstGeom prst="roundRect">
            <a:avLst/>
          </a:prstGeom>
        </p:spPr>
        <p:style>
          <a:lnRef idx="0">
            <a:srgbClr val="FFFFFF"/>
          </a:lnRef>
          <a:fillRef idx="1">
            <a:schemeClr val="accent5"/>
          </a:fillRef>
          <a:effectRef idx="2">
            <a:schemeClr val="accent5"/>
          </a:effectRef>
          <a:fontRef idx="minor">
            <a:schemeClr val="lt1"/>
          </a:fontRef>
        </p:style>
        <p:txBody>
          <a:bodyPr rtlCol="0" anchor="ctr"/>
          <a:p>
            <a:pPr algn="ctr"/>
            <a:r>
              <a:rPr lang="en-US" sz="1600"/>
              <a:t>Repeat the Process</a:t>
            </a:r>
            <a:endParaRPr lang="en-US" sz="16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2110" y="397510"/>
            <a:ext cx="11447780" cy="4545330"/>
          </a:xfrm>
        </p:spPr>
        <p:txBody>
          <a:bodyPr/>
          <a:lstStyle/>
          <a:p>
            <a:pPr algn="just">
              <a:lnSpc>
                <a:spcPct val="150000"/>
              </a:lnSpc>
              <a:buFont typeface="Wingdings" panose="05000000000000000000" pitchFamily="2" charset="2"/>
              <a:buChar char="Ø"/>
            </a:pPr>
            <a:r>
              <a:rPr lang="en-US" b="1" dirty="0">
                <a:solidFill>
                  <a:schemeClr val="accent1"/>
                </a:solidFill>
              </a:rPr>
              <a:t>RESULT:</a:t>
            </a:r>
            <a:endParaRPr lang="en-US" b="1" dirty="0">
              <a:solidFill>
                <a:schemeClr val="accent1"/>
              </a:solidFill>
            </a:endParaRPr>
          </a:p>
          <a:p>
            <a:pPr marL="0" indent="0" algn="just">
              <a:lnSpc>
                <a:spcPct val="150000"/>
              </a:lnSpc>
              <a:buFont typeface="Wingdings" panose="05000000000000000000" charset="0"/>
              <a:buNone/>
            </a:pPr>
            <a:r>
              <a:rPr lang="en-US" sz="2200" dirty="0">
                <a:latin typeface="Times New Roman" panose="02020603050405020304" pitchFamily="18" charset="0"/>
                <a:cs typeface="Times New Roman" panose="02020603050405020304" pitchFamily="18" charset="0"/>
              </a:rPr>
              <a:t>The Virtual Fencing System tracked animals in real time using GPS collars that sent data to a Raspberry Pi via </a:t>
            </a:r>
            <a:r>
              <a:rPr lang="en-US" sz="2200" dirty="0" err="1">
                <a:latin typeface="Times New Roman" panose="02020603050405020304" pitchFamily="18" charset="0"/>
                <a:cs typeface="Times New Roman" panose="02020603050405020304" pitchFamily="18" charset="0"/>
              </a:rPr>
              <a:t>LoRaWAN</a:t>
            </a:r>
            <a:r>
              <a:rPr lang="en-US" sz="2200" dirty="0">
                <a:latin typeface="Times New Roman" panose="02020603050405020304" pitchFamily="18" charset="0"/>
                <a:cs typeface="Times New Roman" panose="02020603050405020304" pitchFamily="18" charset="0"/>
              </a:rPr>
              <a:t>. A virtual boundary was monitored, and any animal crossing it triggered instant alerts. The collar then activated a buzzer and, if needed, a mild pulse to guide the animal back. Overall, the system performed accurately, with long range, fast response, and a simple user interface for farmers.</a:t>
            </a:r>
            <a:endParaRPr lang="en-US" sz="2200" b="1" dirty="0">
              <a:solidFill>
                <a:schemeClr val="tx1"/>
              </a:solidFill>
              <a:latin typeface="Times New Roman" panose="02020603050405020304" pitchFamily="18" charset="0"/>
              <a:cs typeface="Times New Roman" panose="02020603050405020304" pitchFamily="18" charset="0"/>
            </a:endParaRPr>
          </a:p>
          <a:p>
            <a:pPr marL="0" indent="0" algn="just">
              <a:lnSpc>
                <a:spcPct val="150000"/>
              </a:lnSpc>
              <a:buFont typeface="Wingdings" panose="05000000000000000000" charset="0"/>
              <a:buNone/>
            </a:pPr>
            <a:endParaRPr lang="en-US" sz="1800" b="1"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274" y="338454"/>
            <a:ext cx="11241406" cy="5788025"/>
          </a:xfrm>
        </p:spPr>
        <p:txBody>
          <a:bodyPr>
            <a:normAutofit lnSpcReduction="10000"/>
          </a:bodyPr>
          <a:lstStyle/>
          <a:p>
            <a:pPr algn="just">
              <a:lnSpc>
                <a:spcPct val="150000"/>
              </a:lnSpc>
              <a:buFont typeface="Wingdings" panose="05000000000000000000" charset="0"/>
              <a:buChar char="Ø"/>
            </a:pPr>
            <a:r>
              <a:rPr lang="en-US" b="1" dirty="0">
                <a:solidFill>
                  <a:schemeClr val="accent1">
                    <a:lumMod val="75000"/>
                  </a:schemeClr>
                </a:solidFill>
                <a:latin typeface="Times New Roman" panose="02020603050405020304" pitchFamily="18" charset="0"/>
                <a:ea typeface="Optima" pitchFamily="34" charset="-122"/>
                <a:cs typeface="Times New Roman" panose="02020603050405020304" pitchFamily="18" charset="0"/>
                <a:sym typeface="+mn-ea"/>
              </a:rPr>
              <a:t>ADVANTAGES:</a:t>
            </a:r>
            <a:endParaRPr lang="en-US" dirty="0">
              <a:latin typeface="Times New Roman" panose="02020603050405020304" pitchFamily="18" charset="0"/>
              <a:cs typeface="Times New Roman" panose="02020603050405020304" pitchFamily="18" charset="0"/>
            </a:endParaRPr>
          </a:p>
          <a:p>
            <a:pPr marL="441960" lvl="2" indent="-214630" algn="just">
              <a:lnSpc>
                <a:spcPct val="200000"/>
              </a:lnSpc>
              <a:buSzPct val="82000"/>
              <a:buFont typeface="Symbol" panose="05050102010706020507"/>
              <a:buChar char=""/>
              <a:tabLst>
                <a:tab pos="441325" algn="l"/>
              </a:tabLst>
            </a:pPr>
            <a:r>
              <a:rPr lang="en-US" dirty="0">
                <a:latin typeface="Times New Roman" panose="02020603050405020304" pitchFamily="18" charset="0"/>
                <a:cs typeface="Times New Roman" panose="02020603050405020304" pitchFamily="18" charset="0"/>
              </a:rPr>
              <a:t>The</a:t>
            </a:r>
            <a:r>
              <a:rPr lang="en-US" spc="4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system</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eliminates</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a:t>
            </a:r>
            <a:r>
              <a:rPr lang="en-US" spc="5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need</a:t>
            </a:r>
            <a:r>
              <a:rPr lang="en-US" spc="5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physical</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fences,</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reducing</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cost</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land</a:t>
            </a:r>
            <a:r>
              <a:rPr lang="en-US" spc="8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obstruction.</a:t>
            </a:r>
            <a:endParaRPr lang="en-US" dirty="0">
              <a:latin typeface="Times New Roman" panose="02020603050405020304" pitchFamily="18" charset="0"/>
              <a:cs typeface="Times New Roman" panose="02020603050405020304" pitchFamily="18" charset="0"/>
            </a:endParaRPr>
          </a:p>
          <a:p>
            <a:pPr marL="441960" lvl="2" indent="-214630" algn="just">
              <a:lnSpc>
                <a:spcPct val="200000"/>
              </a:lnSpc>
              <a:spcBef>
                <a:spcPts val="625"/>
              </a:spcBef>
              <a:buSzPct val="82000"/>
              <a:buFont typeface="Symbol" panose="05050102010706020507"/>
              <a:buChar char=""/>
              <a:tabLst>
                <a:tab pos="441325" algn="l"/>
              </a:tabLst>
            </a:pPr>
            <a:r>
              <a:rPr lang="en-US" dirty="0">
                <a:latin typeface="Times New Roman" panose="02020603050405020304" pitchFamily="18" charset="0"/>
                <a:cs typeface="Times New Roman" panose="02020603050405020304" pitchFamily="18" charset="0"/>
              </a:rPr>
              <a:t>Operates</a:t>
            </a:r>
            <a:r>
              <a:rPr lang="en-US" spc="8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autonomously</a:t>
            </a:r>
            <a:r>
              <a:rPr lang="en-US" spc="1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using</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GPS</a:t>
            </a:r>
            <a:r>
              <a:rPr lang="en-US" spc="9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a:t>
            </a:r>
            <a:r>
              <a:rPr lang="en-US" spc="70"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LoRaWAN</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without</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constant</a:t>
            </a:r>
            <a:r>
              <a:rPr lang="en-US" spc="9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human</a:t>
            </a:r>
            <a:r>
              <a:rPr lang="en-US" spc="60"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supervision.</a:t>
            </a:r>
            <a:endParaRPr lang="en-US" dirty="0">
              <a:latin typeface="Times New Roman" panose="02020603050405020304" pitchFamily="18" charset="0"/>
              <a:cs typeface="Times New Roman" panose="02020603050405020304" pitchFamily="18" charset="0"/>
            </a:endParaRPr>
          </a:p>
          <a:p>
            <a:pPr marL="441960" marR="80010" lvl="2" indent="-215265" algn="just">
              <a:lnSpc>
                <a:spcPct val="200000"/>
              </a:lnSpc>
              <a:spcBef>
                <a:spcPts val="155"/>
              </a:spcBef>
              <a:buSzPct val="82000"/>
              <a:buFont typeface="Symbol" panose="05050102010706020507"/>
              <a:buChar char=""/>
              <a:tabLst>
                <a:tab pos="441325" algn="l"/>
              </a:tabLst>
            </a:pPr>
            <a:r>
              <a:rPr lang="en-US" dirty="0">
                <a:latin typeface="Times New Roman" panose="02020603050405020304" pitchFamily="18" charset="0"/>
                <a:cs typeface="Times New Roman" panose="02020603050405020304" pitchFamily="18" charset="0"/>
              </a:rPr>
              <a:t>Uses</a:t>
            </a:r>
            <a:r>
              <a:rPr lang="en-US" spc="65"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LoRaWAN</a:t>
            </a:r>
            <a:r>
              <a:rPr lang="en-US" spc="5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communication,</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which</a:t>
            </a:r>
            <a:r>
              <a:rPr lang="en-US" spc="5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provides</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long</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range</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(up</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to</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5–10</a:t>
            </a:r>
            <a:r>
              <a:rPr lang="en-US" spc="5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km)</a:t>
            </a:r>
            <a:r>
              <a:rPr lang="en-US" spc="8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works</a:t>
            </a:r>
            <a:r>
              <a:rPr lang="en-US" spc="60" dirty="0">
                <a:latin typeface="Times New Roman" panose="02020603050405020304" pitchFamily="18" charset="0"/>
                <a:cs typeface="Times New Roman" panose="02020603050405020304" pitchFamily="18" charset="0"/>
              </a:rPr>
              <a:t> </a:t>
            </a:r>
            <a:r>
              <a:rPr lang="en-US" spc="-20" dirty="0">
                <a:latin typeface="Times New Roman" panose="02020603050405020304" pitchFamily="18" charset="0"/>
                <a:cs typeface="Times New Roman" panose="02020603050405020304" pitchFamily="18" charset="0"/>
              </a:rPr>
              <a:t>even </a:t>
            </a:r>
            <a:r>
              <a:rPr lang="en-US" dirty="0">
                <a:latin typeface="Times New Roman" panose="02020603050405020304" pitchFamily="18" charset="0"/>
                <a:cs typeface="Times New Roman" panose="02020603050405020304" pitchFamily="18" charset="0"/>
              </a:rPr>
              <a:t>in</a:t>
            </a:r>
            <a:r>
              <a:rPr lang="en-US" spc="5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areas</a:t>
            </a:r>
            <a:r>
              <a:rPr lang="en-US" spc="5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without</a:t>
            </a:r>
            <a:r>
              <a:rPr lang="en-US" spc="7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internet</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or</a:t>
            </a:r>
            <a:r>
              <a:rPr lang="en-US" spc="5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cellular</a:t>
            </a:r>
            <a:r>
              <a:rPr lang="en-US" spc="5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networks.</a:t>
            </a:r>
            <a:endParaRPr lang="en-US" dirty="0">
              <a:latin typeface="Times New Roman" panose="02020603050405020304" pitchFamily="18" charset="0"/>
              <a:cs typeface="Times New Roman" panose="02020603050405020304" pitchFamily="18" charset="0"/>
            </a:endParaRPr>
          </a:p>
          <a:p>
            <a:pPr marL="441960" lvl="2" indent="-214630" algn="just">
              <a:lnSpc>
                <a:spcPct val="200000"/>
              </a:lnSpc>
              <a:spcBef>
                <a:spcPts val="435"/>
              </a:spcBef>
              <a:buSzPct val="82000"/>
              <a:buFont typeface="Symbol" panose="05050102010706020507"/>
              <a:buChar char=""/>
              <a:tabLst>
                <a:tab pos="441325" algn="l"/>
              </a:tabLst>
            </a:pPr>
            <a:r>
              <a:rPr lang="en-US" dirty="0">
                <a:latin typeface="Times New Roman" panose="02020603050405020304" pitchFamily="18" charset="0"/>
                <a:cs typeface="Times New Roman" panose="02020603050405020304" pitchFamily="18" charset="0"/>
              </a:rPr>
              <a:t>Each</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collar</a:t>
            </a:r>
            <a:r>
              <a:rPr lang="en-US" spc="5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tag</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a:t>
            </a:r>
            <a:r>
              <a:rPr lang="en-US" spc="7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solar-powered,</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reducing</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the</a:t>
            </a:r>
            <a:r>
              <a:rPr lang="en-US" spc="7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need</a:t>
            </a:r>
            <a:r>
              <a:rPr lang="en-US" spc="5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for</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frequent</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recharging</a:t>
            </a:r>
            <a:r>
              <a:rPr lang="en-US" spc="5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ensuring</a:t>
            </a:r>
            <a:r>
              <a:rPr lang="en-US" spc="75" dirty="0">
                <a:latin typeface="Times New Roman" panose="02020603050405020304" pitchFamily="18" charset="0"/>
                <a:cs typeface="Times New Roman" panose="02020603050405020304" pitchFamily="18" charset="0"/>
              </a:rPr>
              <a:t> </a:t>
            </a:r>
            <a:r>
              <a:rPr lang="en-US" spc="-10" dirty="0">
                <a:latin typeface="Times New Roman" panose="02020603050405020304" pitchFamily="18" charset="0"/>
                <a:cs typeface="Times New Roman" panose="02020603050405020304" pitchFamily="18" charset="0"/>
              </a:rPr>
              <a:t>long-</a:t>
            </a:r>
            <a:endParaRPr lang="en-US" dirty="0">
              <a:latin typeface="Times New Roman" panose="02020603050405020304" pitchFamily="18" charset="0"/>
              <a:cs typeface="Times New Roman" panose="02020603050405020304" pitchFamily="18" charset="0"/>
            </a:endParaRPr>
          </a:p>
          <a:p>
            <a:pPr marL="441960" algn="just">
              <a:lnSpc>
                <a:spcPct val="200000"/>
              </a:lnSpc>
              <a:spcBef>
                <a:spcPts val="640"/>
              </a:spcBef>
            </a:pPr>
            <a:r>
              <a:rPr lang="en-US" sz="2000" dirty="0">
                <a:latin typeface="Times New Roman" panose="02020603050405020304" pitchFamily="18" charset="0"/>
                <a:cs typeface="Times New Roman" panose="02020603050405020304" pitchFamily="18" charset="0"/>
              </a:rPr>
              <a:t>term</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field</a:t>
            </a:r>
            <a:r>
              <a:rPr lang="en-US" sz="2000" spc="6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operation.</a:t>
            </a:r>
            <a:endParaRPr lang="en-US" sz="2000" spc="-10" dirty="0">
              <a:latin typeface="Times New Roman" panose="02020603050405020304" pitchFamily="18" charset="0"/>
              <a:cs typeface="Times New Roman" panose="02020603050405020304" pitchFamily="18" charset="0"/>
            </a:endParaRPr>
          </a:p>
          <a:p>
            <a:pPr marL="441960" marR="325120" lvl="2" indent="-215265" algn="just">
              <a:lnSpc>
                <a:spcPct val="200000"/>
              </a:lnSpc>
              <a:buSzPct val="82000"/>
              <a:buFont typeface="Symbol" panose="05050102010706020507"/>
              <a:buChar char=""/>
              <a:tabLst>
                <a:tab pos="441325" algn="l"/>
              </a:tabLst>
            </a:pPr>
            <a:r>
              <a:rPr lang="en-US" dirty="0">
                <a:latin typeface="Times New Roman" panose="02020603050405020304" pitchFamily="18" charset="0"/>
                <a:cs typeface="Times New Roman" panose="02020603050405020304" pitchFamily="18" charset="0"/>
              </a:rPr>
              <a:t>The</a:t>
            </a:r>
            <a:r>
              <a:rPr lang="en-US" spc="5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system</a:t>
            </a:r>
            <a:r>
              <a:rPr lang="en-US" spc="6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provides</a:t>
            </a:r>
            <a:r>
              <a:rPr lang="en-US" spc="8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real-time</a:t>
            </a:r>
            <a:r>
              <a:rPr lang="en-US" spc="6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location</a:t>
            </a:r>
            <a:r>
              <a:rPr lang="en-US" spc="7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tracking</a:t>
            </a:r>
            <a:r>
              <a:rPr lang="en-US" spc="9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a:t>
            </a:r>
            <a:r>
              <a:rPr lang="en-US" spc="8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displays</a:t>
            </a:r>
            <a:r>
              <a:rPr lang="en-US" spc="8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all</a:t>
            </a:r>
            <a:r>
              <a:rPr lang="en-US" spc="8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animal</a:t>
            </a:r>
            <a:r>
              <a:rPr lang="en-US" spc="5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positions</a:t>
            </a:r>
            <a:r>
              <a:rPr lang="en-US" spc="7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on</a:t>
            </a:r>
            <a:r>
              <a:rPr lang="en-US" spc="75"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a:t>
            </a:r>
            <a:r>
              <a:rPr lang="en-US" spc="50" dirty="0">
                <a:latin typeface="Times New Roman" panose="02020603050405020304" pitchFamily="18" charset="0"/>
                <a:cs typeface="Times New Roman" panose="02020603050405020304" pitchFamily="18" charset="0"/>
              </a:rPr>
              <a:t> </a:t>
            </a:r>
            <a:r>
              <a:rPr lang="en-US" spc="-25" dirty="0">
                <a:latin typeface="Times New Roman" panose="02020603050405020304" pitchFamily="18" charset="0"/>
                <a:cs typeface="Times New Roman" panose="02020603050405020304" pitchFamily="18" charset="0"/>
              </a:rPr>
              <a:t>map </a:t>
            </a:r>
            <a:r>
              <a:rPr lang="en-US" spc="-10" dirty="0">
                <a:latin typeface="Times New Roman" panose="02020603050405020304" pitchFamily="18" charset="0"/>
                <a:cs typeface="Times New Roman" panose="02020603050405020304" pitchFamily="18" charset="0"/>
              </a:rPr>
              <a:t>interface.</a:t>
            </a:r>
            <a:endParaRPr lang="en-US" dirty="0">
              <a:latin typeface="Times New Roman" panose="02020603050405020304" pitchFamily="18" charset="0"/>
              <a:cs typeface="Times New Roman" panose="02020603050405020304" pitchFamily="18" charset="0"/>
            </a:endParaRPr>
          </a:p>
          <a:p>
            <a:pPr algn="just">
              <a:lnSpc>
                <a:spcPct val="150000"/>
              </a:lnSpc>
            </a:pPr>
            <a:endParaRPr lang="en-US" sz="7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6240" y="320040"/>
            <a:ext cx="11399519" cy="5394959"/>
          </a:xfrm>
        </p:spPr>
        <p:txBody>
          <a:bodyPr>
            <a:normAutofit/>
          </a:bodyPr>
          <a:lstStyle/>
          <a:p>
            <a:pPr>
              <a:lnSpc>
                <a:spcPct val="150000"/>
              </a:lnSpc>
              <a:buFont typeface="Wingdings" panose="05000000000000000000" charset="0"/>
              <a:buChar char="Ø"/>
            </a:pPr>
            <a:r>
              <a:rPr lang="en-US" b="1" dirty="0">
                <a:solidFill>
                  <a:schemeClr val="accent1">
                    <a:lumMod val="75000"/>
                  </a:schemeClr>
                </a:solidFill>
                <a:ea typeface="Optima" pitchFamily="34" charset="-122"/>
                <a:cs typeface="+mn-lt"/>
                <a:sym typeface="+mn-ea"/>
              </a:rPr>
              <a:t>LIMITATIONS:</a:t>
            </a:r>
            <a:endParaRPr lang="en-US" dirty="0">
              <a:cs typeface="+mn-lt"/>
            </a:endParaRPr>
          </a:p>
          <a:p>
            <a:pPr marL="441960" marR="580390" lvl="2" indent="-215265">
              <a:lnSpc>
                <a:spcPct val="150000"/>
              </a:lnSpc>
              <a:spcBef>
                <a:spcPts val="1420"/>
              </a:spcBef>
              <a:buSzPct val="82000"/>
              <a:buFont typeface="Symbol" panose="05050102010706020507"/>
              <a:buChar char=""/>
              <a:tabLst>
                <a:tab pos="441325" algn="l"/>
              </a:tabLst>
            </a:pPr>
            <a:r>
              <a:rPr lang="en-US" dirty="0">
                <a:latin typeface="Times New Roman" panose="02020603050405020304"/>
                <a:cs typeface="Times New Roman" panose="02020603050405020304"/>
              </a:rPr>
              <a:t>The</a:t>
            </a:r>
            <a:r>
              <a:rPr lang="en-US" spc="45"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initial</a:t>
            </a:r>
            <a:r>
              <a:rPr lang="en-US" b="1" spc="55"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setup</a:t>
            </a:r>
            <a:r>
              <a:rPr lang="en-US" b="1" spc="60"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cost</a:t>
            </a:r>
            <a:r>
              <a:rPr lang="en-US" b="1" spc="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may</a:t>
            </a:r>
            <a:r>
              <a:rPr lang="en-US" spc="5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be</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higher</a:t>
            </a:r>
            <a:r>
              <a:rPr lang="en-US" spc="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compared</a:t>
            </a:r>
            <a:r>
              <a:rPr lang="en-US" spc="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to</a:t>
            </a:r>
            <a:r>
              <a:rPr lang="en-US" spc="8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simple</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wired</a:t>
            </a:r>
            <a:r>
              <a:rPr lang="en-US" spc="4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fences,</a:t>
            </a:r>
            <a:r>
              <a:rPr lang="en-US" spc="5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due</a:t>
            </a:r>
            <a:r>
              <a:rPr lang="en-US" spc="6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to</a:t>
            </a:r>
            <a:r>
              <a:rPr lang="en-US" spc="6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electronic components.</a:t>
            </a:r>
            <a:endParaRPr lang="en-US" dirty="0">
              <a:latin typeface="Times New Roman" panose="02020603050405020304"/>
              <a:cs typeface="Times New Roman" panose="02020603050405020304"/>
            </a:endParaRPr>
          </a:p>
          <a:p>
            <a:pPr marL="441960" marR="76200" lvl="2" indent="-215265">
              <a:lnSpc>
                <a:spcPct val="150000"/>
              </a:lnSpc>
              <a:buSzPct val="82000"/>
              <a:buFont typeface="Symbol" panose="05050102010706020507"/>
              <a:buChar char=""/>
              <a:tabLst>
                <a:tab pos="441325" algn="l"/>
              </a:tabLst>
            </a:pPr>
            <a:r>
              <a:rPr lang="en-US" dirty="0">
                <a:latin typeface="Times New Roman" panose="02020603050405020304"/>
                <a:cs typeface="Times New Roman" panose="02020603050405020304"/>
              </a:rPr>
              <a:t>The</a:t>
            </a:r>
            <a:r>
              <a:rPr lang="en-US" spc="50"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GPS</a:t>
            </a:r>
            <a:r>
              <a:rPr lang="en-US" b="1" spc="70"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module</a:t>
            </a:r>
            <a:r>
              <a:rPr lang="en-US" b="1" spc="5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may</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experience</a:t>
            </a:r>
            <a:r>
              <a:rPr lang="en-US" spc="5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reduced</a:t>
            </a:r>
            <a:r>
              <a:rPr lang="en-US" spc="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accuracy</a:t>
            </a:r>
            <a:r>
              <a:rPr lang="en-US" spc="7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in</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dense</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forests,</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hilly</a:t>
            </a:r>
            <a:r>
              <a:rPr lang="en-US" spc="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terrain,</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or</a:t>
            </a:r>
            <a:r>
              <a:rPr lang="en-US" spc="7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during</a:t>
            </a:r>
            <a:r>
              <a:rPr lang="en-US" spc="70" dirty="0">
                <a:latin typeface="Times New Roman" panose="02020603050405020304"/>
                <a:cs typeface="Times New Roman" panose="02020603050405020304"/>
              </a:rPr>
              <a:t> </a:t>
            </a:r>
            <a:r>
              <a:rPr lang="en-US" spc="-20" dirty="0">
                <a:latin typeface="Times New Roman" panose="02020603050405020304"/>
                <a:cs typeface="Times New Roman" panose="02020603050405020304"/>
              </a:rPr>
              <a:t>poor </a:t>
            </a:r>
            <a:r>
              <a:rPr lang="en-US" dirty="0">
                <a:latin typeface="Times New Roman" panose="02020603050405020304"/>
                <a:cs typeface="Times New Roman" panose="02020603050405020304"/>
              </a:rPr>
              <a:t>satellite</a:t>
            </a:r>
            <a:r>
              <a:rPr lang="en-US" spc="100"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reception.</a:t>
            </a:r>
            <a:endParaRPr lang="en-US" dirty="0">
              <a:latin typeface="Times New Roman" panose="02020603050405020304"/>
              <a:cs typeface="Times New Roman" panose="02020603050405020304"/>
            </a:endParaRPr>
          </a:p>
          <a:p>
            <a:pPr marL="441960" lvl="2" indent="-214630">
              <a:lnSpc>
                <a:spcPct val="150000"/>
              </a:lnSpc>
              <a:spcBef>
                <a:spcPts val="635"/>
              </a:spcBef>
              <a:buSzPct val="82000"/>
              <a:buFont typeface="Symbol" panose="05050102010706020507"/>
              <a:buChar char=""/>
              <a:tabLst>
                <a:tab pos="441325" algn="l"/>
              </a:tabLst>
            </a:pPr>
            <a:r>
              <a:rPr lang="en-US" b="1" dirty="0" err="1">
                <a:latin typeface="Times New Roman" panose="02020603050405020304"/>
                <a:cs typeface="Times New Roman" panose="02020603050405020304"/>
              </a:rPr>
              <a:t>LoRaWAN</a:t>
            </a:r>
            <a:r>
              <a:rPr lang="en-US" b="1" spc="50"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range</a:t>
            </a:r>
            <a:r>
              <a:rPr lang="en-US" b="1" spc="7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can</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vary</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based</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on</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terrain</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and</a:t>
            </a:r>
            <a:r>
              <a:rPr lang="en-US" spc="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physical</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obstructions</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such</a:t>
            </a:r>
            <a:r>
              <a:rPr lang="en-US" spc="4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as</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trees</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or</a:t>
            </a:r>
            <a:r>
              <a:rPr lang="en-US" spc="70"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buildings.</a:t>
            </a:r>
            <a:endParaRPr lang="en-US" dirty="0">
              <a:latin typeface="Times New Roman" panose="02020603050405020304"/>
              <a:cs typeface="Times New Roman" panose="02020603050405020304"/>
            </a:endParaRPr>
          </a:p>
          <a:p>
            <a:pPr marL="441960" lvl="2" indent="-214630">
              <a:lnSpc>
                <a:spcPct val="150000"/>
              </a:lnSpc>
              <a:spcBef>
                <a:spcPts val="615"/>
              </a:spcBef>
              <a:buSzPct val="82000"/>
              <a:buFont typeface="Symbol" panose="05050102010706020507"/>
              <a:buChar char=""/>
              <a:tabLst>
                <a:tab pos="441325" algn="l"/>
              </a:tabLst>
            </a:pPr>
            <a:r>
              <a:rPr lang="en-US" dirty="0">
                <a:latin typeface="Times New Roman" panose="02020603050405020304"/>
                <a:cs typeface="Times New Roman" panose="02020603050405020304"/>
              </a:rPr>
              <a:t>The</a:t>
            </a:r>
            <a:r>
              <a:rPr lang="en-US" spc="65"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mild</a:t>
            </a:r>
            <a:r>
              <a:rPr lang="en-US" b="1" spc="75"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electric</a:t>
            </a:r>
            <a:r>
              <a:rPr lang="en-US" b="1" spc="75"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stimulus</a:t>
            </a:r>
            <a:r>
              <a:rPr lang="en-US" b="1" spc="10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requires</a:t>
            </a:r>
            <a:r>
              <a:rPr lang="en-US" spc="7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careful</a:t>
            </a:r>
            <a:r>
              <a:rPr lang="en-US" spc="9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calibration</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to</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avoid</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discomfort</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to</a:t>
            </a:r>
            <a:r>
              <a:rPr lang="en-US" spc="8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animals.</a:t>
            </a:r>
            <a:endParaRPr lang="en-US" dirty="0">
              <a:latin typeface="Times New Roman" panose="02020603050405020304"/>
              <a:cs typeface="Times New Roman" panose="02020603050405020304"/>
            </a:endParaRPr>
          </a:p>
          <a:p>
            <a:pPr marL="441960" marR="494030" lvl="2" indent="-215265">
              <a:lnSpc>
                <a:spcPct val="150000"/>
              </a:lnSpc>
              <a:spcBef>
                <a:spcPts val="10"/>
              </a:spcBef>
              <a:buSzPct val="82000"/>
              <a:buFont typeface="Symbol" panose="05050102010706020507"/>
              <a:buChar char=""/>
              <a:tabLst>
                <a:tab pos="441325" algn="l"/>
              </a:tabLst>
            </a:pPr>
            <a:r>
              <a:rPr lang="en-US" dirty="0">
                <a:latin typeface="Times New Roman" panose="02020603050405020304"/>
                <a:cs typeface="Times New Roman" panose="02020603050405020304"/>
              </a:rPr>
              <a:t>The</a:t>
            </a:r>
            <a:r>
              <a:rPr lang="en-US" spc="55"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solar</a:t>
            </a:r>
            <a:r>
              <a:rPr lang="en-US" b="1" spc="60"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charging</a:t>
            </a:r>
            <a:r>
              <a:rPr lang="en-US" b="1" spc="65" dirty="0">
                <a:latin typeface="Times New Roman" panose="02020603050405020304"/>
                <a:cs typeface="Times New Roman" panose="02020603050405020304"/>
              </a:rPr>
              <a:t> </a:t>
            </a:r>
            <a:r>
              <a:rPr lang="en-US" b="1" dirty="0">
                <a:latin typeface="Times New Roman" panose="02020603050405020304"/>
                <a:cs typeface="Times New Roman" panose="02020603050405020304"/>
              </a:rPr>
              <a:t>efficiency</a:t>
            </a:r>
            <a:r>
              <a:rPr lang="en-US" b="1" spc="8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may</a:t>
            </a:r>
            <a:r>
              <a:rPr lang="en-US" spc="6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drop</a:t>
            </a:r>
            <a:r>
              <a:rPr lang="en-US" spc="7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during</a:t>
            </a:r>
            <a:r>
              <a:rPr lang="en-US" spc="7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cloudy</a:t>
            </a:r>
            <a:r>
              <a:rPr lang="en-US" spc="7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or</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rainy</a:t>
            </a:r>
            <a:r>
              <a:rPr lang="en-US" spc="50" dirty="0">
                <a:latin typeface="Times New Roman" panose="02020603050405020304"/>
                <a:cs typeface="Times New Roman" panose="02020603050405020304"/>
              </a:rPr>
              <a:t> </a:t>
            </a:r>
            <a:r>
              <a:rPr lang="en-US" dirty="0">
                <a:latin typeface="Times New Roman" panose="02020603050405020304"/>
                <a:cs typeface="Times New Roman" panose="02020603050405020304"/>
              </a:rPr>
              <a:t>weather,</a:t>
            </a:r>
            <a:r>
              <a:rPr lang="en-US" spc="75" dirty="0">
                <a:latin typeface="Times New Roman" panose="02020603050405020304"/>
                <a:cs typeface="Times New Roman" panose="02020603050405020304"/>
              </a:rPr>
              <a:t> </a:t>
            </a:r>
            <a:r>
              <a:rPr lang="en-US" dirty="0">
                <a:latin typeface="Times New Roman" panose="02020603050405020304"/>
                <a:cs typeface="Times New Roman" panose="02020603050405020304"/>
              </a:rPr>
              <a:t>reducing</a:t>
            </a:r>
            <a:r>
              <a:rPr lang="en-US" spc="75" dirty="0">
                <a:latin typeface="Times New Roman" panose="02020603050405020304"/>
                <a:cs typeface="Times New Roman" panose="02020603050405020304"/>
              </a:rPr>
              <a:t> </a:t>
            </a:r>
            <a:r>
              <a:rPr lang="en-US" spc="-10" dirty="0">
                <a:latin typeface="Times New Roman" panose="02020603050405020304"/>
                <a:cs typeface="Times New Roman" panose="02020603050405020304"/>
              </a:rPr>
              <a:t>battery runtime.</a:t>
            </a:r>
            <a:endParaRPr lang="en-US" dirty="0">
              <a:latin typeface="Times New Roman" panose="02020603050405020304"/>
              <a:cs typeface="Times New Roman" panose="02020603050405020304"/>
            </a:endParaRPr>
          </a:p>
          <a:p>
            <a:pPr>
              <a:lnSpc>
                <a:spcPct val="150000"/>
              </a:lnSpc>
            </a:pPr>
            <a:endParaRPr lang="en-US" sz="1800" dirty="0">
              <a:cs typeface="+mn-l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rot="10800000" flipV="1">
            <a:off x="450214" y="263810"/>
            <a:ext cx="11291572" cy="5727065"/>
          </a:xfrm>
          <a:prstGeom prst="rect">
            <a:avLst/>
          </a:prstGeom>
          <a:noFill/>
        </p:spPr>
        <p:txBody>
          <a:bodyPr wrap="square" rtlCol="0">
            <a:noAutofit/>
          </a:bodyPr>
          <a:lstStyle/>
          <a:p>
            <a:pPr marL="342900" indent="-342900" algn="l">
              <a:lnSpc>
                <a:spcPct val="150000"/>
              </a:lnSpc>
              <a:buFont typeface="Wingdings" panose="05000000000000000000" charset="0"/>
              <a:buChar char="Ø"/>
            </a:pPr>
            <a:r>
              <a:rPr lang="en-US" sz="2800" b="1" dirty="0">
                <a:solidFill>
                  <a:schemeClr val="accent1">
                    <a:lumMod val="75000"/>
                  </a:schemeClr>
                </a:solidFill>
                <a:latin typeface="Times New Roman" panose="02020603050405020304" pitchFamily="18" charset="0"/>
                <a:ea typeface="Optima" pitchFamily="34" charset="-122"/>
                <a:cs typeface="Times New Roman" panose="02020603050405020304" pitchFamily="18" charset="0"/>
                <a:sym typeface="+mn-ea"/>
              </a:rPr>
              <a:t>APPLICATIONS:-</a:t>
            </a:r>
            <a:endParaRPr lang="en-US" sz="2800" b="1" dirty="0">
              <a:solidFill>
                <a:schemeClr val="accent1">
                  <a:lumMod val="75000"/>
                </a:schemeClr>
              </a:solidFill>
              <a:latin typeface="Times New Roman" panose="02020603050405020304" pitchFamily="18" charset="0"/>
              <a:ea typeface="Optima" pitchFamily="34" charset="-122"/>
              <a:cs typeface="Times New Roman" panose="02020603050405020304" pitchFamily="18" charset="0"/>
              <a:sym typeface="+mn-ea"/>
            </a:endParaRPr>
          </a:p>
          <a:p>
            <a:pPr marL="441960" indent="-214630">
              <a:lnSpc>
                <a:spcPct val="150000"/>
              </a:lnSpc>
              <a:spcBef>
                <a:spcPts val="5"/>
              </a:spcBef>
              <a:buSzPct val="82000"/>
              <a:buFont typeface="Symbol" panose="05050102010706020507"/>
              <a:buChar char=""/>
              <a:tabLst>
                <a:tab pos="441325" algn="l"/>
              </a:tabLst>
            </a:pPr>
            <a:r>
              <a:rPr lang="en-US" sz="2000" b="1" dirty="0">
                <a:latin typeface="Times New Roman" panose="02020603050405020304" pitchFamily="18" charset="0"/>
                <a:cs typeface="Times New Roman" panose="02020603050405020304" pitchFamily="18" charset="0"/>
              </a:rPr>
              <a:t>Livestock</a:t>
            </a:r>
            <a:r>
              <a:rPr lang="en-US" sz="2000" b="1" spc="100"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Management:</a:t>
            </a:r>
            <a:endParaRPr lang="en-US" sz="2000" dirty="0">
              <a:latin typeface="Times New Roman" panose="02020603050405020304" pitchFamily="18" charset="0"/>
              <a:cs typeface="Times New Roman" panose="02020603050405020304" pitchFamily="18" charset="0"/>
            </a:endParaRPr>
          </a:p>
          <a:p>
            <a:pPr marL="441960" marR="152400">
              <a:lnSpc>
                <a:spcPct val="150000"/>
              </a:lnSpc>
              <a:spcBef>
                <a:spcPts val="140"/>
              </a:spcBef>
            </a:pPr>
            <a:r>
              <a:rPr lang="en-US" sz="2000" dirty="0">
                <a:latin typeface="Times New Roman" panose="02020603050405020304" pitchFamily="18" charset="0"/>
                <a:cs typeface="Times New Roman" panose="02020603050405020304" pitchFamily="18" charset="0"/>
              </a:rPr>
              <a:t>Used</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control</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monitor</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the</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grazing</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area</a:t>
            </a:r>
            <a:r>
              <a:rPr lang="en-US" sz="2000" spc="4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of</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animals</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such</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as</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cattle,</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goats,</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sheep</a:t>
            </a:r>
            <a:r>
              <a:rPr lang="en-US" sz="2000" spc="4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without </a:t>
            </a:r>
            <a:r>
              <a:rPr lang="en-US" sz="2000" dirty="0">
                <a:latin typeface="Times New Roman" panose="02020603050405020304" pitchFamily="18" charset="0"/>
                <a:cs typeface="Times New Roman" panose="02020603050405020304" pitchFamily="18" charset="0"/>
              </a:rPr>
              <a:t>physical</a:t>
            </a:r>
            <a:r>
              <a:rPr lang="en-US" sz="2000" spc="8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fences.</a:t>
            </a:r>
            <a:endParaRPr lang="en-US" sz="2000" dirty="0">
              <a:latin typeface="Times New Roman" panose="02020603050405020304" pitchFamily="18" charset="0"/>
              <a:cs typeface="Times New Roman" panose="02020603050405020304" pitchFamily="18" charset="0"/>
            </a:endParaRPr>
          </a:p>
          <a:p>
            <a:pPr marL="441960" indent="-214630">
              <a:lnSpc>
                <a:spcPct val="150000"/>
              </a:lnSpc>
              <a:spcBef>
                <a:spcPts val="450"/>
              </a:spcBef>
              <a:buSzPct val="82000"/>
              <a:buFont typeface="Symbol" panose="05050102010706020507"/>
              <a:buChar char=""/>
              <a:tabLst>
                <a:tab pos="441325" algn="l"/>
              </a:tabLst>
            </a:pPr>
            <a:r>
              <a:rPr lang="en-US" sz="2000" b="1" dirty="0">
                <a:latin typeface="Times New Roman" panose="02020603050405020304" pitchFamily="18" charset="0"/>
                <a:cs typeface="Times New Roman" panose="02020603050405020304" pitchFamily="18" charset="0"/>
              </a:rPr>
              <a:t>Smart</a:t>
            </a:r>
            <a:r>
              <a:rPr lang="en-US" sz="2000" b="1" spc="65"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Farming:</a:t>
            </a:r>
            <a:endParaRPr lang="en-US" sz="2000" dirty="0">
              <a:latin typeface="Times New Roman" panose="02020603050405020304" pitchFamily="18" charset="0"/>
              <a:cs typeface="Times New Roman" panose="02020603050405020304" pitchFamily="18" charset="0"/>
            </a:endParaRPr>
          </a:p>
          <a:p>
            <a:pPr marL="441960" marR="473710">
              <a:lnSpc>
                <a:spcPct val="150000"/>
              </a:lnSpc>
            </a:pPr>
            <a:r>
              <a:rPr lang="en-US" sz="2000" dirty="0">
                <a:latin typeface="Times New Roman" panose="02020603050405020304" pitchFamily="18" charset="0"/>
                <a:cs typeface="Times New Roman" panose="02020603050405020304" pitchFamily="18" charset="0"/>
              </a:rPr>
              <a:t>Enables</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farmers</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create</a:t>
            </a:r>
            <a:r>
              <a:rPr lang="en-US" sz="2000" spc="8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adjustable</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virtual</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boundaries</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and</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manage</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herds</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more</a:t>
            </a:r>
            <a:r>
              <a:rPr lang="en-US" sz="2000" spc="5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efficiently </a:t>
            </a:r>
            <a:r>
              <a:rPr lang="en-US" sz="2000" dirty="0">
                <a:latin typeface="Times New Roman" panose="02020603050405020304" pitchFamily="18" charset="0"/>
                <a:cs typeface="Times New Roman" panose="02020603050405020304" pitchFamily="18" charset="0"/>
              </a:rPr>
              <a:t>through</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IoT</a:t>
            </a:r>
            <a:r>
              <a:rPr lang="en-US" sz="2000" spc="5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automation.</a:t>
            </a:r>
            <a:endParaRPr lang="en-US" sz="2000" dirty="0">
              <a:latin typeface="Times New Roman" panose="02020603050405020304" pitchFamily="18" charset="0"/>
              <a:cs typeface="Times New Roman" panose="02020603050405020304" pitchFamily="18" charset="0"/>
            </a:endParaRPr>
          </a:p>
          <a:p>
            <a:pPr marL="441960" indent="-214630">
              <a:lnSpc>
                <a:spcPct val="150000"/>
              </a:lnSpc>
              <a:spcBef>
                <a:spcPts val="635"/>
              </a:spcBef>
              <a:buSzPct val="82000"/>
              <a:buFont typeface="Symbol" panose="05050102010706020507"/>
              <a:buChar char=""/>
              <a:tabLst>
                <a:tab pos="441325" algn="l"/>
              </a:tabLst>
            </a:pPr>
            <a:r>
              <a:rPr lang="en-US" sz="2000" b="1" dirty="0">
                <a:latin typeface="Times New Roman" panose="02020603050405020304" pitchFamily="18" charset="0"/>
                <a:cs typeface="Times New Roman" panose="02020603050405020304" pitchFamily="18" charset="0"/>
              </a:rPr>
              <a:t>Animal</a:t>
            </a:r>
            <a:r>
              <a:rPr lang="en-US" sz="2000" b="1" spc="5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Tracking</a:t>
            </a:r>
            <a:r>
              <a:rPr lang="en-US" sz="2000" b="1" spc="70" dirty="0">
                <a:latin typeface="Times New Roman" panose="02020603050405020304" pitchFamily="18" charset="0"/>
                <a:cs typeface="Times New Roman" panose="02020603050405020304" pitchFamily="18" charset="0"/>
              </a:rPr>
              <a:t> </a:t>
            </a:r>
            <a:r>
              <a:rPr lang="en-US" sz="2000" b="1" dirty="0">
                <a:latin typeface="Times New Roman" panose="02020603050405020304" pitchFamily="18" charset="0"/>
                <a:cs typeface="Times New Roman" panose="02020603050405020304" pitchFamily="18" charset="0"/>
              </a:rPr>
              <a:t>and</a:t>
            </a:r>
            <a:r>
              <a:rPr lang="en-US" sz="2000" b="1" spc="85" dirty="0">
                <a:latin typeface="Times New Roman" panose="02020603050405020304" pitchFamily="18" charset="0"/>
                <a:cs typeface="Times New Roman" panose="02020603050405020304" pitchFamily="18" charset="0"/>
              </a:rPr>
              <a:t> </a:t>
            </a:r>
            <a:r>
              <a:rPr lang="en-US" sz="2000" b="1" spc="-10" dirty="0">
                <a:latin typeface="Times New Roman" panose="02020603050405020304" pitchFamily="18" charset="0"/>
                <a:cs typeface="Times New Roman" panose="02020603050405020304" pitchFamily="18" charset="0"/>
              </a:rPr>
              <a:t>Research:</a:t>
            </a:r>
            <a:endParaRPr lang="en-US" sz="2000" dirty="0">
              <a:latin typeface="Times New Roman" panose="02020603050405020304" pitchFamily="18" charset="0"/>
              <a:cs typeface="Times New Roman" panose="02020603050405020304" pitchFamily="18" charset="0"/>
            </a:endParaRPr>
          </a:p>
          <a:p>
            <a:pPr marL="441960" marR="316865">
              <a:lnSpc>
                <a:spcPct val="150000"/>
              </a:lnSpc>
              <a:spcBef>
                <a:spcPts val="145"/>
              </a:spcBef>
            </a:pPr>
            <a:r>
              <a:rPr lang="en-US" sz="2000" dirty="0">
                <a:latin typeface="Times New Roman" panose="02020603050405020304" pitchFamily="18" charset="0"/>
                <a:cs typeface="Times New Roman" panose="02020603050405020304" pitchFamily="18" charset="0"/>
              </a:rPr>
              <a:t>Useful</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in</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wildlife</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conservation</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or</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behavioral</a:t>
            </a:r>
            <a:r>
              <a:rPr lang="en-US" sz="2000" spc="9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research</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for</a:t>
            </a:r>
            <a:r>
              <a:rPr lang="en-US" sz="2000" spc="9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monitoring</a:t>
            </a:r>
            <a:r>
              <a:rPr lang="en-US" sz="2000" spc="9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animal</a:t>
            </a:r>
            <a:r>
              <a:rPr lang="en-US" sz="2000" spc="8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movements</a:t>
            </a:r>
            <a:r>
              <a:rPr lang="en-US" sz="2000" spc="85"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and </a:t>
            </a:r>
            <a:r>
              <a:rPr lang="en-US" sz="2000" dirty="0">
                <a:latin typeface="Times New Roman" panose="02020603050405020304" pitchFamily="18" charset="0"/>
                <a:cs typeface="Times New Roman" panose="02020603050405020304" pitchFamily="18" charset="0"/>
              </a:rPr>
              <a:t>migration</a:t>
            </a:r>
            <a:r>
              <a:rPr lang="en-US" sz="2000" spc="11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patterns.</a:t>
            </a:r>
            <a:endParaRPr lang="en-US" sz="2000" spc="-10" dirty="0">
              <a:latin typeface="Times New Roman" panose="02020603050405020304" pitchFamily="18" charset="0"/>
              <a:cs typeface="Times New Roman" panose="02020603050405020304" pitchFamily="18" charset="0"/>
            </a:endParaRPr>
          </a:p>
          <a:p>
            <a:pPr marL="441960" marR="316865">
              <a:lnSpc>
                <a:spcPct val="150000"/>
              </a:lnSpc>
              <a:spcBef>
                <a:spcPts val="145"/>
              </a:spcBef>
            </a:pPr>
            <a:endParaRPr lang="en-US" sz="2000" dirty="0">
              <a:latin typeface="Times New Roman" panose="02020603050405020304" pitchFamily="18" charset="0"/>
              <a:cs typeface="Times New Roman" panose="02020603050405020304" pitchFamily="18" charset="0"/>
            </a:endParaRPr>
          </a:p>
          <a:p>
            <a:pPr marL="342900" indent="-342900" algn="l">
              <a:lnSpc>
                <a:spcPct val="150000"/>
              </a:lnSpc>
              <a:buFont typeface="Wingdings" panose="05000000000000000000" charset="0"/>
              <a:buChar char="Ø"/>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10496195" cy="5585377"/>
          </a:xfrm>
        </p:spPr>
        <p:txBody>
          <a:bodyPr/>
          <a:lstStyle/>
          <a:p>
            <a:pPr algn="just">
              <a:lnSpc>
                <a:spcPct val="150000"/>
              </a:lnSpc>
              <a:buFont typeface="Wingdings" panose="05000000000000000000" charset="0"/>
              <a:buChar char="Ø"/>
            </a:pPr>
            <a:r>
              <a:rPr lang="en-US" b="1" dirty="0">
                <a:solidFill>
                  <a:schemeClr val="accent1">
                    <a:lumMod val="75000"/>
                  </a:schemeClr>
                </a:solidFill>
                <a:latin typeface="Times New Roman" panose="02020603050405020304" pitchFamily="18" charset="0"/>
                <a:cs typeface="Times New Roman" panose="02020603050405020304" pitchFamily="18" charset="0"/>
              </a:rPr>
              <a:t>CONCLUSION</a:t>
            </a:r>
            <a:r>
              <a:rPr lang="en-US" dirty="0">
                <a:solidFill>
                  <a:schemeClr val="accent1">
                    <a:lumMod val="75000"/>
                  </a:schemeClr>
                </a:solidFill>
                <a:latin typeface="Times New Roman" panose="02020603050405020304" pitchFamily="18" charset="0"/>
                <a:cs typeface="Times New Roman" panose="02020603050405020304" pitchFamily="18" charset="0"/>
              </a:rPr>
              <a:t>:</a:t>
            </a:r>
            <a:endParaRPr lang="en-US" dirty="0">
              <a:solidFill>
                <a:schemeClr val="accent1">
                  <a:lumMod val="75000"/>
                </a:schemeClr>
              </a:solidFill>
              <a:latin typeface="Times New Roman" panose="02020603050405020304" pitchFamily="18" charset="0"/>
              <a:cs typeface="Times New Roman" panose="02020603050405020304" pitchFamily="18" charset="0"/>
            </a:endParaRPr>
          </a:p>
          <a:p>
            <a:pPr marL="227330" lvl="2" indent="0" algn="just">
              <a:lnSpc>
                <a:spcPct val="150000"/>
              </a:lnSpc>
              <a:buSzPct val="82000"/>
              <a:buNone/>
              <a:tabLst>
                <a:tab pos="441325" algn="l"/>
              </a:tabLst>
            </a:pPr>
            <a:r>
              <a:rPr lang="en-US" sz="2200" dirty="0">
                <a:latin typeface="Times New Roman" panose="02020603050405020304"/>
                <a:cs typeface="Times New Roman" panose="02020603050405020304"/>
              </a:rPr>
              <a:t>The Virtual Fencing project successfully demonstrates an effective, low-cost system for monitoring and controlling animal movement without physical barriers. Using GPS, wireless communication, and smart alerts, it provides real-time tracking and ensures animal safety while reducing manual effort. This project serves as a practical solution for modern farming and can be further expanded for large-scale livestock management.</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88290" y="263525"/>
            <a:ext cx="11519535" cy="6041390"/>
          </a:xfrm>
        </p:spPr>
        <p:txBody>
          <a:bodyPr>
            <a:normAutofit/>
          </a:bodyPr>
          <a:p>
            <a:pPr>
              <a:buFont typeface="Wingdings" panose="05000000000000000000" charset="0"/>
              <a:buChar char="Ø"/>
            </a:pPr>
            <a:r>
              <a:rPr lang="en-US">
                <a:solidFill>
                  <a:schemeClr val="accent1"/>
                </a:solidFill>
              </a:rPr>
              <a:t>FUTURE SCOPE</a:t>
            </a:r>
            <a:endParaRPr lang="en-US">
              <a:solidFill>
                <a:schemeClr val="accent1"/>
              </a:solidFill>
            </a:endParaRPr>
          </a:p>
          <a:p>
            <a:pPr marL="0" indent="0">
              <a:buFont typeface="Wingdings" panose="05000000000000000000" charset="0"/>
              <a:buNone/>
            </a:pPr>
            <a:endParaRPr lang="en-US">
              <a:solidFill>
                <a:schemeClr val="accent1"/>
              </a:solidFill>
            </a:endParaRPr>
          </a:p>
          <a:p>
            <a:pPr marL="0" indent="0">
              <a:buFont typeface="Wingdings" panose="05000000000000000000" charset="0"/>
              <a:buNone/>
            </a:pPr>
            <a:r>
              <a:rPr lang="en-US" altLang="en-US" sz="2400">
                <a:solidFill>
                  <a:schemeClr val="tx1"/>
                </a:solidFill>
              </a:rPr>
              <a:t> 1. AI-Based Animal Monitoring</a:t>
            </a:r>
            <a:endParaRPr lang="en-US" altLang="en-US" sz="2000">
              <a:solidFill>
                <a:schemeClr val="tx1"/>
              </a:solidFill>
            </a:endParaRPr>
          </a:p>
          <a:p>
            <a:pPr marL="0" indent="0">
              <a:buFont typeface="Wingdings" panose="05000000000000000000" charset="0"/>
              <a:buNone/>
            </a:pPr>
            <a:r>
              <a:rPr lang="en-US" altLang="en-US" sz="2000">
                <a:solidFill>
                  <a:schemeClr val="tx1"/>
                </a:solidFill>
              </a:rPr>
              <a:t>Integrate Artificial Intelligence to analyze animal movement patterns and detect abnormal behavior, health issues, or unusual activity automatically.</a:t>
            </a:r>
            <a:endParaRPr lang="en-US" altLang="en-US" sz="2000">
              <a:solidFill>
                <a:schemeClr val="tx1"/>
              </a:solidFill>
            </a:endParaRPr>
          </a:p>
          <a:p>
            <a:pPr marL="0" indent="0">
              <a:buFont typeface="Wingdings" panose="05000000000000000000" charset="0"/>
              <a:buNone/>
            </a:pPr>
            <a:endParaRPr lang="en-US" altLang="en-US" sz="2000">
              <a:solidFill>
                <a:schemeClr val="tx1"/>
              </a:solidFill>
            </a:endParaRPr>
          </a:p>
          <a:p>
            <a:pPr marL="0" indent="0">
              <a:buFont typeface="Wingdings" panose="05000000000000000000" charset="0"/>
              <a:buNone/>
            </a:pPr>
            <a:r>
              <a:rPr lang="en-US" altLang="en-US" sz="2400">
                <a:solidFill>
                  <a:schemeClr val="tx1"/>
                </a:solidFill>
              </a:rPr>
              <a:t>2. Cloud &amp; Mobile App Integration</a:t>
            </a:r>
            <a:endParaRPr lang="en-US" altLang="en-US" sz="2000">
              <a:solidFill>
                <a:schemeClr val="tx1"/>
              </a:solidFill>
            </a:endParaRPr>
          </a:p>
          <a:p>
            <a:pPr marL="0" indent="0">
              <a:buFont typeface="Wingdings" panose="05000000000000000000" charset="0"/>
              <a:buNone/>
            </a:pPr>
            <a:r>
              <a:rPr lang="en-US" altLang="en-US" sz="2000">
                <a:solidFill>
                  <a:schemeClr val="tx1"/>
                </a:solidFill>
              </a:rPr>
              <a:t>Connect the system to a cloud platform and develop a dedicated mobile app for remote monitoring, real-time alerts, and large-scale farm management from anywhere.</a:t>
            </a:r>
            <a:endParaRPr lang="en-US" altLang="en-US" sz="2000">
              <a:solidFill>
                <a:schemeClr val="tx1"/>
              </a:solidFill>
            </a:endParaRPr>
          </a:p>
          <a:p>
            <a:pPr marL="0" indent="0">
              <a:buFont typeface="Wingdings" panose="05000000000000000000" charset="0"/>
              <a:buNone/>
            </a:pPr>
            <a:endParaRPr lang="en-US" altLang="en-US" sz="2000">
              <a:solidFill>
                <a:schemeClr val="tx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75" y="428625"/>
            <a:ext cx="10515600" cy="4351338"/>
          </a:xfrm>
        </p:spPr>
        <p:txBody>
          <a:bodyPr>
            <a:normAutofit fontScale="92500" lnSpcReduction="10000"/>
          </a:bodyPr>
          <a:lstStyle/>
          <a:p>
            <a:pPr>
              <a:buFont typeface="Wingdings" panose="05000000000000000000" charset="0"/>
              <a:buChar char="Ø"/>
            </a:pPr>
            <a:r>
              <a:rPr lang="en-US" b="1" dirty="0">
                <a:solidFill>
                  <a:schemeClr val="accent1"/>
                </a:solidFill>
                <a:latin typeface="Times New Roman" panose="02020603050405020304" pitchFamily="18" charset="0"/>
                <a:cs typeface="Times New Roman" panose="02020603050405020304" pitchFamily="18" charset="0"/>
              </a:rPr>
              <a:t>REFERENCE:</a:t>
            </a:r>
            <a:endParaRPr lang="en-US" b="1" dirty="0">
              <a:solidFill>
                <a:schemeClr val="accent1"/>
              </a:solidFill>
              <a:latin typeface="Times New Roman" panose="02020603050405020304" pitchFamily="18" charset="0"/>
              <a:cs typeface="Times New Roman" panose="02020603050405020304" pitchFamily="18" charset="0"/>
            </a:endParaRPr>
          </a:p>
          <a:p>
            <a:pPr marL="225425" marR="7620" indent="-213360">
              <a:lnSpc>
                <a:spcPct val="160000"/>
              </a:lnSpc>
              <a:spcBef>
                <a:spcPts val="1515"/>
              </a:spcBef>
              <a:buFont typeface="Times New Roman" panose="02020603050405020304"/>
              <a:buAutoNum type="arabicPeriod"/>
              <a:tabLst>
                <a:tab pos="225425" algn="l"/>
              </a:tabLst>
            </a:pPr>
            <a:r>
              <a:rPr lang="en-US" sz="2200" dirty="0">
                <a:latin typeface="Times New Roman" panose="02020603050405020304" pitchFamily="18" charset="0"/>
                <a:cs typeface="Times New Roman" panose="02020603050405020304" pitchFamily="18" charset="0"/>
              </a:rPr>
              <a:t>Anderson,</a:t>
            </a:r>
            <a:r>
              <a:rPr lang="en-US" sz="2200" spc="3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a:t>
            </a:r>
            <a:r>
              <a:rPr lang="en-US" sz="2200" spc="3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a:t>
            </a:r>
            <a:r>
              <a:rPr lang="en-US" sz="2200" spc="3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Hale,</a:t>
            </a:r>
            <a:r>
              <a:rPr lang="en-US" sz="2200" spc="3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a:t>
            </a:r>
            <a:r>
              <a:rPr lang="en-US" sz="2200" spc="3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a:t>
            </a:r>
            <a:r>
              <a:rPr lang="en-US" sz="2200" spc="33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3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Nolen,</a:t>
            </a:r>
            <a:r>
              <a:rPr lang="en-US" sz="2200" spc="3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a:t>
            </a:r>
            <a:r>
              <a:rPr lang="en-US" sz="2200" spc="35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Virtual</a:t>
            </a:r>
            <a:r>
              <a:rPr lang="en-US" sz="2200" spc="3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Fencing:</a:t>
            </a:r>
            <a:r>
              <a:rPr lang="en-US" sz="2200" spc="33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Adaptive</a:t>
            </a:r>
            <a:r>
              <a:rPr lang="en-US" sz="2200" spc="31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3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Ethical</a:t>
            </a:r>
            <a:r>
              <a:rPr lang="en-US" sz="2200" spc="310"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Livestock </a:t>
            </a:r>
            <a:r>
              <a:rPr lang="en-US" sz="2200" dirty="0">
                <a:latin typeface="Times New Roman" panose="02020603050405020304" pitchFamily="18" charset="0"/>
                <a:cs typeface="Times New Roman" panose="02020603050405020304" pitchFamily="18" charset="0"/>
              </a:rPr>
              <a:t>Management,</a:t>
            </a:r>
            <a:r>
              <a:rPr lang="en-US" sz="2200" spc="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Journal</a:t>
            </a:r>
            <a:r>
              <a:rPr lang="en-US" sz="2200" spc="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7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Animal</a:t>
            </a:r>
            <a:r>
              <a:rPr lang="en-US" sz="2200" spc="7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Science,</a:t>
            </a:r>
            <a:r>
              <a:rPr lang="en-US" sz="2200" spc="5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Vol.</a:t>
            </a:r>
            <a:r>
              <a:rPr lang="en-US" sz="2200" spc="7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81,</a:t>
            </a:r>
            <a:r>
              <a:rPr lang="en-US" sz="2200" spc="7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pp.</a:t>
            </a:r>
            <a:r>
              <a:rPr lang="en-US" sz="2200" spc="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285–293,</a:t>
            </a:r>
            <a:r>
              <a:rPr lang="en-US" sz="2200" spc="6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2003.</a:t>
            </a:r>
            <a:endParaRPr lang="en-US" sz="2200" dirty="0">
              <a:latin typeface="Times New Roman" panose="02020603050405020304" pitchFamily="18" charset="0"/>
              <a:cs typeface="Times New Roman" panose="02020603050405020304" pitchFamily="18" charset="0"/>
            </a:endParaRPr>
          </a:p>
          <a:p>
            <a:pPr marL="225425" marR="7620" indent="-213360">
              <a:lnSpc>
                <a:spcPct val="160000"/>
              </a:lnSpc>
              <a:spcBef>
                <a:spcPts val="155"/>
              </a:spcBef>
              <a:buFont typeface="Times New Roman" panose="02020603050405020304"/>
              <a:buAutoNum type="arabicPeriod"/>
              <a:tabLst>
                <a:tab pos="225425" algn="l"/>
              </a:tabLst>
            </a:pPr>
            <a:r>
              <a:rPr lang="en-US" sz="2200" dirty="0" err="1">
                <a:latin typeface="Times New Roman" panose="02020603050405020304" pitchFamily="18" charset="0"/>
                <a:cs typeface="Times New Roman" panose="02020603050405020304" pitchFamily="18" charset="0"/>
              </a:rPr>
              <a:t>Umstatter</a:t>
            </a:r>
            <a:r>
              <a:rPr lang="en-US" sz="2200" dirty="0">
                <a:latin typeface="Times New Roman" panose="02020603050405020304" pitchFamily="18" charset="0"/>
                <a:cs typeface="Times New Roman" panose="02020603050405020304" pitchFamily="18" charset="0"/>
              </a:rPr>
              <a:t>,</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a:t>
            </a:r>
            <a:r>
              <a:rPr lang="en-US" sz="2200" spc="10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Evolution</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3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Virtual</a:t>
            </a:r>
            <a:r>
              <a:rPr lang="en-US" sz="2200" spc="10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Fencing:</a:t>
            </a:r>
            <a:r>
              <a:rPr lang="en-US" sz="2200" spc="1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a:t>
            </a:r>
            <a:r>
              <a:rPr lang="en-US" sz="2200" spc="10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Review</a:t>
            </a:r>
            <a:r>
              <a:rPr lang="en-US" sz="2200" spc="1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of</a:t>
            </a:r>
            <a:r>
              <a:rPr lang="en-US" sz="2200" spc="1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Research</a:t>
            </a:r>
            <a:r>
              <a:rPr lang="en-US" sz="2200" spc="1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1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Commercial</a:t>
            </a:r>
            <a:r>
              <a:rPr lang="en-US" sz="2200" spc="1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Systems</a:t>
            </a:r>
            <a:r>
              <a:rPr lang="en-US" sz="2200" spc="90"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for </a:t>
            </a:r>
            <a:r>
              <a:rPr lang="en-US" sz="2200" dirty="0">
                <a:latin typeface="Times New Roman" panose="02020603050405020304" pitchFamily="18" charset="0"/>
                <a:cs typeface="Times New Roman" panose="02020603050405020304" pitchFamily="18" charset="0"/>
              </a:rPr>
              <a:t>Animal</a:t>
            </a:r>
            <a:r>
              <a:rPr lang="en-US" sz="2200" spc="5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Control,</a:t>
            </a:r>
            <a:r>
              <a:rPr lang="en-US" sz="2200" spc="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Applied</a:t>
            </a:r>
            <a:r>
              <a:rPr lang="en-US" sz="2200" spc="5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Animal</a:t>
            </a:r>
            <a:r>
              <a:rPr lang="en-US" sz="2200" spc="6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Behaviour</a:t>
            </a:r>
            <a:r>
              <a:rPr lang="en-US" sz="2200" spc="5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Science,</a:t>
            </a:r>
            <a:r>
              <a:rPr lang="en-US" sz="2200" spc="5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Vol.</a:t>
            </a:r>
            <a:r>
              <a:rPr lang="en-US" sz="2200" spc="7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135,</a:t>
            </a:r>
            <a:r>
              <a:rPr lang="en-US" sz="2200" spc="7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Issue</a:t>
            </a:r>
            <a:r>
              <a:rPr lang="en-US" sz="2200" spc="6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1,</a:t>
            </a:r>
            <a:r>
              <a:rPr lang="en-US" sz="2200" spc="6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pp.</a:t>
            </a:r>
            <a:r>
              <a:rPr lang="en-US" sz="2200" spc="7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1–8,</a:t>
            </a:r>
            <a:r>
              <a:rPr lang="en-US" sz="2200" spc="5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2011.</a:t>
            </a:r>
            <a:endParaRPr lang="en-US" sz="2200" dirty="0">
              <a:latin typeface="Times New Roman" panose="02020603050405020304" pitchFamily="18" charset="0"/>
              <a:cs typeface="Times New Roman" panose="02020603050405020304" pitchFamily="18" charset="0"/>
            </a:endParaRPr>
          </a:p>
          <a:p>
            <a:pPr marL="225425" indent="-212725">
              <a:lnSpc>
                <a:spcPct val="160000"/>
              </a:lnSpc>
              <a:spcBef>
                <a:spcPts val="435"/>
              </a:spcBef>
              <a:buFont typeface="Times New Roman" panose="02020603050405020304"/>
              <a:buAutoNum type="arabicPeriod"/>
              <a:tabLst>
                <a:tab pos="225425" algn="l"/>
              </a:tabLst>
            </a:pPr>
            <a:r>
              <a:rPr lang="en-US" sz="2200" dirty="0">
                <a:latin typeface="Times New Roman" panose="02020603050405020304" pitchFamily="18" charset="0"/>
                <a:cs typeface="Times New Roman" panose="02020603050405020304" pitchFamily="18" charset="0"/>
              </a:rPr>
              <a:t>Campbell,</a:t>
            </a:r>
            <a:r>
              <a:rPr lang="en-US" sz="2200" spc="18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a:t>
            </a:r>
            <a:r>
              <a:rPr lang="en-US" sz="2200" spc="18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L.</a:t>
            </a:r>
            <a:r>
              <a:rPr lang="en-US" sz="2200" spc="19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a:t>
            </a:r>
            <a:r>
              <a:rPr lang="en-US" sz="2200" spc="19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Lea,</a:t>
            </a:r>
            <a:r>
              <a:rPr lang="en-US" sz="2200" spc="18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J.</a:t>
            </a:r>
            <a:r>
              <a:rPr lang="en-US" sz="2200" spc="18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a:t>
            </a:r>
            <a:r>
              <a:rPr lang="en-US" sz="2200" spc="20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20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Farrer,</a:t>
            </a:r>
            <a:r>
              <a:rPr lang="en-US" sz="2200" spc="19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W.</a:t>
            </a:r>
            <a:r>
              <a:rPr lang="en-US" sz="2200" spc="19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J.,</a:t>
            </a:r>
            <a:r>
              <a:rPr lang="en-US" sz="2200" spc="20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GPS</a:t>
            </a:r>
            <a:r>
              <a:rPr lang="en-US" sz="2200" spc="18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Accuracy</a:t>
            </a:r>
            <a:r>
              <a:rPr lang="en-US" sz="2200" spc="18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19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Behavioral</a:t>
            </a:r>
            <a:r>
              <a:rPr lang="en-US" sz="2200" spc="18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Conditioning</a:t>
            </a:r>
            <a:r>
              <a:rPr lang="en-US" sz="2200" spc="195" dirty="0">
                <a:latin typeface="Times New Roman" panose="02020603050405020304" pitchFamily="18" charset="0"/>
                <a:cs typeface="Times New Roman" panose="02020603050405020304" pitchFamily="18" charset="0"/>
              </a:rPr>
              <a:t> </a:t>
            </a:r>
            <a:r>
              <a:rPr lang="en-US" sz="2200" spc="-25" dirty="0">
                <a:latin typeface="Times New Roman" panose="02020603050405020304" pitchFamily="18" charset="0"/>
                <a:cs typeface="Times New Roman" panose="02020603050405020304" pitchFamily="18" charset="0"/>
              </a:rPr>
              <a:t>in</a:t>
            </a:r>
            <a:endParaRPr lang="en-US" sz="2200" dirty="0">
              <a:latin typeface="Times New Roman" panose="02020603050405020304" pitchFamily="18" charset="0"/>
              <a:cs typeface="Times New Roman" panose="02020603050405020304" pitchFamily="18" charset="0"/>
            </a:endParaRPr>
          </a:p>
          <a:p>
            <a:pPr marL="225425" marR="9525">
              <a:lnSpc>
                <a:spcPct val="160000"/>
              </a:lnSpc>
              <a:spcBef>
                <a:spcPts val="10"/>
              </a:spcBef>
            </a:pPr>
            <a:r>
              <a:rPr lang="en-US" sz="2200" dirty="0">
                <a:latin typeface="Times New Roman" panose="02020603050405020304" pitchFamily="18" charset="0"/>
                <a:cs typeface="Times New Roman" panose="02020603050405020304" pitchFamily="18" charset="0"/>
              </a:rPr>
              <a:t>Virtual</a:t>
            </a:r>
            <a:r>
              <a:rPr lang="en-US" sz="2200" spc="1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Fencing</a:t>
            </a:r>
            <a:r>
              <a:rPr lang="en-US" sz="2200" spc="10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Systems</a:t>
            </a:r>
            <a:r>
              <a:rPr lang="en-US" sz="2200" spc="13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for</a:t>
            </a:r>
            <a:r>
              <a:rPr lang="en-US" sz="2200" spc="1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Cattle,</a:t>
            </a:r>
            <a:r>
              <a:rPr lang="en-US" sz="2200" spc="10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Computers</a:t>
            </a:r>
            <a:r>
              <a:rPr lang="en-US" sz="2200" spc="10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and</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Electronics</a:t>
            </a:r>
            <a:r>
              <a:rPr lang="en-US" sz="2200" spc="12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in</a:t>
            </a:r>
            <a:r>
              <a:rPr lang="en-US" sz="2200" spc="125"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Agriculture,</a:t>
            </a:r>
            <a:r>
              <a:rPr lang="en-US" sz="2200" spc="13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Vol.</a:t>
            </a:r>
            <a:r>
              <a:rPr lang="en-US" sz="2200" spc="114"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98,</a:t>
            </a:r>
            <a:r>
              <a:rPr lang="en-US" sz="2200" spc="13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pp.</a:t>
            </a:r>
            <a:r>
              <a:rPr lang="en-US" sz="2200" spc="125" dirty="0">
                <a:latin typeface="Times New Roman" panose="02020603050405020304" pitchFamily="18" charset="0"/>
                <a:cs typeface="Times New Roman" panose="02020603050405020304" pitchFamily="18" charset="0"/>
              </a:rPr>
              <a:t> </a:t>
            </a:r>
            <a:r>
              <a:rPr lang="en-US" sz="2200" spc="-10" dirty="0">
                <a:latin typeface="Times New Roman" panose="02020603050405020304" pitchFamily="18" charset="0"/>
                <a:cs typeface="Times New Roman" panose="02020603050405020304" pitchFamily="18" charset="0"/>
              </a:rPr>
              <a:t>233–242, 2014.</a:t>
            </a:r>
            <a:endParaRPr lang="en-US" sz="2200" dirty="0">
              <a:latin typeface="Times New Roman" panose="02020603050405020304" pitchFamily="18" charset="0"/>
              <a:cs typeface="Times New Roman" panose="02020603050405020304" pitchFamily="18" charset="0"/>
            </a:endParaRPr>
          </a:p>
          <a:p>
            <a:pPr>
              <a:buFont typeface="Wingdings" panose="05000000000000000000" charset="0"/>
              <a:buChar char="Ø"/>
            </a:pPr>
            <a:endParaRPr lang="en-US" sz="2400"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56199" y="2626566"/>
            <a:ext cx="7279602" cy="1604867"/>
          </a:xfrm>
        </p:spPr>
        <p:txBody>
          <a:bodyPr>
            <a:normAutofit/>
          </a:bodyPr>
          <a:lstStyle/>
          <a:p>
            <a:pPr marL="0" indent="0" algn="ctr">
              <a:buNone/>
            </a:pPr>
            <a:r>
              <a:rPr lang="en-US" sz="8000" dirty="0">
                <a:solidFill>
                  <a:schemeClr val="accent1"/>
                </a:solidFill>
                <a:latin typeface="Times New Roman" panose="02020603050405020304" pitchFamily="18" charset="0"/>
                <a:cs typeface="Times New Roman" panose="02020603050405020304" pitchFamily="18" charset="0"/>
              </a:rPr>
              <a:t>THANK YOU</a:t>
            </a:r>
            <a:endParaRPr lang="en-US" sz="8000" dirty="0">
              <a:solidFill>
                <a:schemeClr val="accent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8766</Words>
  <Application>WPS Presentation</Application>
  <PresentationFormat>Widescreen</PresentationFormat>
  <Paragraphs>249</Paragraphs>
  <Slides>25</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25</vt:i4>
      </vt:variant>
    </vt:vector>
  </HeadingPairs>
  <TitlesOfParts>
    <vt:vector size="38" baseType="lpstr">
      <vt:lpstr>Arial</vt:lpstr>
      <vt:lpstr>SimSun</vt:lpstr>
      <vt:lpstr>Wingdings</vt:lpstr>
      <vt:lpstr>Times New Roman</vt:lpstr>
      <vt:lpstr>Wingdings</vt:lpstr>
      <vt:lpstr>Microsoft YaHei</vt:lpstr>
      <vt:lpstr>Arial Unicode MS</vt:lpstr>
      <vt:lpstr>Calibri Light</vt:lpstr>
      <vt:lpstr>Calibri</vt:lpstr>
      <vt:lpstr>Optima</vt:lpstr>
      <vt:lpstr>Symbol</vt:lpstr>
      <vt:lpstr>Times New Roman</vt:lpstr>
      <vt:lpstr>Office Theme</vt:lpstr>
      <vt:lpstr> A SEMINAR  ON VIRTUAL FENCING  BACHELORE OF TECHNOLOGY IN  ELECTRONICS AND COMMUNICATION ENGINEERING   Under the extreme guidance of  Mr. R. DURGA GOPAL B.Tech., M. Tech., (Ph.D)  Presented by    E.DHANANJAI 		(23J25A0405)
   K.AKSHAY GUPTA	(22J21A0415)  
   H.NIKITHA 		(22J21A0411)
   RAGHAVENDRA	(23J25A0412)       JOGINPALLY B.R ENGINEERING COLLEGE  DEPARTMENT OF ELECTRONICS AND COMMUNICATION ENGINEERING  2025-26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SIMPLE WIRELESS CHARGER FOR SMART PHONES</dc:title>
  <dc:creator>Microsoft account</dc:creator>
  <cp:lastModifiedBy>user</cp:lastModifiedBy>
  <cp:revision>43</cp:revision>
  <dcterms:created xsi:type="dcterms:W3CDTF">2024-06-08T01:07:00Z</dcterms:created>
  <dcterms:modified xsi:type="dcterms:W3CDTF">2026-01-22T20:44:07Z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93EBD9FC0C0F4F14BCABD8A34F914876_13</vt:lpwstr>
  </property>
  <property fmtid="{D5CDD505-2E9C-101B-9397-08002B2CF9AE}" pid="3" name="KSOProductBuildVer">
    <vt:lpwstr>1033-12.2.0.23196</vt:lpwstr>
  </property>
</Properties>
</file>